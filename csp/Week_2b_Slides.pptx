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3"/>
          <p:cNvSpPr txBox="1"/>
          <p:nvPr/>
        </p:nvSpPr>
        <p:spPr>
          <a:xfrm>
            <a:off x="891961" y="65514"/>
            <a:ext cx="10725335" cy="916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5400">
                <a:ln w="6600" cap="flat">
                  <a:solidFill>
                    <a:srgbClr val="7030A0"/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sx="100000" sy="100000" kx="0" ky="0" algn="b" rotWithShape="0" blurRad="0" dist="38100" dir="2700000">
                    <a:srgbClr val="7030A0"/>
                  </a:outerShdw>
                </a:effectLst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AP Computer Science Principles</a:t>
            </a:r>
          </a:p>
        </p:txBody>
      </p:sp>
      <p:grpSp>
        <p:nvGrpSpPr>
          <p:cNvPr id="97" name="Rectangle: Rounded Corners 1"/>
          <p:cNvGrpSpPr/>
          <p:nvPr/>
        </p:nvGrpSpPr>
        <p:grpSpPr>
          <a:xfrm>
            <a:off x="303246" y="1837932"/>
            <a:ext cx="11585510" cy="4842786"/>
            <a:chOff x="0" y="0"/>
            <a:chExt cx="11585509" cy="4842785"/>
          </a:xfrm>
        </p:grpSpPr>
        <p:sp>
          <p:nvSpPr>
            <p:cNvPr id="95" name="Rounded Rectangle"/>
            <p:cNvSpPr/>
            <p:nvPr/>
          </p:nvSpPr>
          <p:spPr>
            <a:xfrm>
              <a:off x="0" y="0"/>
              <a:ext cx="11585510" cy="484278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 cap="flat">
              <a:solidFill>
                <a:srgbClr val="7030A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6" name="Today’s Objectives:…"/>
            <p:cNvSpPr txBox="1"/>
            <p:nvPr/>
          </p:nvSpPr>
          <p:spPr>
            <a:xfrm>
              <a:off x="301174" y="255454"/>
              <a:ext cx="10983161" cy="40408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3600" u="sng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Today’s Objectives: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240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• Students will be able to explain the fetch-decode-execute cycle and the role of the CPU in executing instructions.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240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• Students will understand the difference between system software and application software.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240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• Students will understand the role of computer languages in giving instructions to a computer.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240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• Students will be able to explain the difference between high-level and low-level computer languages and give examples of each.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2400">
                  <a:solidFill>
                    <a:srgbClr val="7030A0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• Students will understand the difference between text-based and visual-based programming languages.</a:t>
              </a:r>
            </a:p>
          </p:txBody>
        </p:sp>
      </p:grpSp>
      <p:sp>
        <p:nvSpPr>
          <p:cNvPr id="98" name="Rectangle 2"/>
          <p:cNvSpPr txBox="1"/>
          <p:nvPr/>
        </p:nvSpPr>
        <p:spPr>
          <a:xfrm>
            <a:off x="422593" y="917381"/>
            <a:ext cx="11346853" cy="7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4600">
                <a:ln w="6600" cap="flat">
                  <a:solidFill>
                    <a:srgbClr val="7030A0"/>
                  </a:solidFill>
                  <a:prstDash val="solid"/>
                  <a:round/>
                </a:ln>
                <a:solidFill>
                  <a:srgbClr val="CC99FF"/>
                </a:solidFill>
                <a:effectLst>
                  <a:outerShdw sx="100000" sy="100000" kx="0" ky="0" algn="b" rotWithShape="0" blurRad="0" dist="38100" dir="2700000">
                    <a:srgbClr val="7030A0"/>
                  </a:outerShdw>
                </a:effectLst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Week 2 (at home): How Computers Work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2"/>
          <p:cNvSpPr txBox="1"/>
          <p:nvPr/>
        </p:nvSpPr>
        <p:spPr>
          <a:xfrm>
            <a:off x="313975" y="159396"/>
            <a:ext cx="11527506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Von Neumann Architecture</a:t>
            </a:r>
          </a:p>
        </p:txBody>
      </p:sp>
      <p:sp>
        <p:nvSpPr>
          <p:cNvPr id="101" name="TextBox 4"/>
          <p:cNvSpPr txBox="1"/>
          <p:nvPr/>
        </p:nvSpPr>
        <p:spPr>
          <a:xfrm>
            <a:off x="313975" y="1122471"/>
            <a:ext cx="11527506" cy="105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structure and organization of virtually all modern computational devices are based on a single theoretical model called the Von Neumann architecture.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2"/>
          <p:cNvSpPr txBox="1"/>
          <p:nvPr/>
        </p:nvSpPr>
        <p:spPr>
          <a:xfrm>
            <a:off x="313975" y="159396"/>
            <a:ext cx="11527506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Von Neumann Architecture</a:t>
            </a:r>
          </a:p>
        </p:txBody>
      </p:sp>
      <p:sp>
        <p:nvSpPr>
          <p:cNvPr id="104" name="TextBox 4"/>
          <p:cNvSpPr txBox="1"/>
          <p:nvPr/>
        </p:nvSpPr>
        <p:spPr>
          <a:xfrm>
            <a:off x="313975" y="1122470"/>
            <a:ext cx="11527506" cy="2220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structure and organization of virtually all modern computational devices are based on a single theoretical model called the Von Neumann architecture.</a:t>
            </a:r>
          </a:p>
          <a:p>
            <a: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architecture is based on the idea that a </a:t>
            </a:r>
            <a:r>
              <a:rPr>
                <a:solidFill>
                  <a:srgbClr val="FF0000"/>
                </a:solidFill>
              </a:rPr>
              <a:t>central unit </a:t>
            </a:r>
            <a:r>
              <a:t>will coordinate a set of instructions for the computer to execute.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2"/>
          <p:cNvSpPr txBox="1"/>
          <p:nvPr/>
        </p:nvSpPr>
        <p:spPr>
          <a:xfrm>
            <a:off x="313975" y="159396"/>
            <a:ext cx="11527506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Von Neumann Architecture</a:t>
            </a:r>
          </a:p>
        </p:txBody>
      </p:sp>
      <p:sp>
        <p:nvSpPr>
          <p:cNvPr id="107" name="TextBox 4"/>
          <p:cNvSpPr txBox="1"/>
          <p:nvPr/>
        </p:nvSpPr>
        <p:spPr>
          <a:xfrm>
            <a:off x="313975" y="1122470"/>
            <a:ext cx="11527506" cy="3386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structure and organization of virtually all modern computational devices are based on a single theoretical model called the Von Neumann architecture.</a:t>
            </a:r>
          </a:p>
          <a:p>
            <a: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architecture is based on the idea that a </a:t>
            </a:r>
            <a:r>
              <a:rPr>
                <a:solidFill>
                  <a:srgbClr val="FF0000"/>
                </a:solidFill>
              </a:rPr>
              <a:t>central unit </a:t>
            </a:r>
            <a:r>
              <a:t>will coordinate a set of instructions for the computer to execute.</a:t>
            </a:r>
          </a:p>
          <a:p>
            <a: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architecture introduced </a:t>
            </a:r>
            <a:r>
              <a:rPr>
                <a:solidFill>
                  <a:srgbClr val="FF0000"/>
                </a:solidFill>
              </a:rPr>
              <a:t>memory</a:t>
            </a:r>
            <a:r>
              <a:t> as a place to store both instructions and data.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2"/>
          <p:cNvSpPr txBox="1"/>
          <p:nvPr/>
        </p:nvSpPr>
        <p:spPr>
          <a:xfrm>
            <a:off x="313975" y="159396"/>
            <a:ext cx="11527506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Von Neumann Architecture</a:t>
            </a:r>
          </a:p>
        </p:txBody>
      </p:sp>
      <p:sp>
        <p:nvSpPr>
          <p:cNvPr id="110" name="TextBox 4"/>
          <p:cNvSpPr txBox="1"/>
          <p:nvPr/>
        </p:nvSpPr>
        <p:spPr>
          <a:xfrm>
            <a:off x="313975" y="1122471"/>
            <a:ext cx="11527506" cy="3970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structure and organization of virtually all modern computational devices are based on a single theoretical model called the Von Neumann architecture.</a:t>
            </a:r>
          </a:p>
          <a:p>
            <a: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architecture is based on the idea that a </a:t>
            </a:r>
            <a:r>
              <a:rPr>
                <a:solidFill>
                  <a:srgbClr val="FF0000"/>
                </a:solidFill>
              </a:rPr>
              <a:t>central unit </a:t>
            </a:r>
            <a:r>
              <a:t>will coordinate a set of instructions for the computer to execute.</a:t>
            </a:r>
          </a:p>
          <a:p>
            <a: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architecture introduced </a:t>
            </a:r>
            <a:r>
              <a:rPr>
                <a:solidFill>
                  <a:srgbClr val="FF0000"/>
                </a:solidFill>
              </a:rPr>
              <a:t>memory</a:t>
            </a:r>
            <a:r>
              <a:t> as a place to store both instructions and data.</a:t>
            </a:r>
          </a:p>
          <a:p>
            <a: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architecture streamlined computer interaction into </a:t>
            </a:r>
            <a:r>
              <a:rPr>
                <a:solidFill>
                  <a:srgbClr val="FF0000"/>
                </a:solidFill>
              </a:rPr>
              <a:t>input and output devices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2"/>
          <p:cNvSpPr txBox="1"/>
          <p:nvPr/>
        </p:nvSpPr>
        <p:spPr>
          <a:xfrm>
            <a:off x="313975" y="159396"/>
            <a:ext cx="11527506" cy="701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50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Von Neumann Architecture</a:t>
            </a:r>
          </a:p>
        </p:txBody>
      </p:sp>
      <p:sp>
        <p:nvSpPr>
          <p:cNvPr id="113" name="TextBox 4"/>
          <p:cNvSpPr txBox="1"/>
          <p:nvPr/>
        </p:nvSpPr>
        <p:spPr>
          <a:xfrm>
            <a:off x="313975" y="1122470"/>
            <a:ext cx="11527506" cy="5136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structure and organization of virtually all modern computational devices are based on a single theoretical model called the Von Neumann architecture.</a:t>
            </a:r>
          </a:p>
          <a:p>
            <a: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architecture is based on the idea that a </a:t>
            </a:r>
            <a:r>
              <a:rPr>
                <a:solidFill>
                  <a:srgbClr val="FF0000"/>
                </a:solidFill>
              </a:rPr>
              <a:t>central unit </a:t>
            </a:r>
            <a:r>
              <a:t>will coordinate a set of instructions for the computer to execute.</a:t>
            </a:r>
          </a:p>
          <a:p>
            <a: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architecture introduced </a:t>
            </a:r>
            <a:r>
              <a:rPr>
                <a:solidFill>
                  <a:srgbClr val="FF0000"/>
                </a:solidFill>
              </a:rPr>
              <a:t>memory</a:t>
            </a:r>
            <a:r>
              <a:t> as a place to store both instructions and data.</a:t>
            </a:r>
          </a:p>
          <a:p>
            <a: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architecture streamlined computer interaction into </a:t>
            </a:r>
            <a:r>
              <a:rPr>
                <a:solidFill>
                  <a:srgbClr val="FF0000"/>
                </a:solidFill>
              </a:rPr>
              <a:t>input and output devices</a:t>
            </a:r>
            <a:r>
              <a:t>.</a:t>
            </a:r>
          </a:p>
          <a:p>
            <a:pPr marL="342900" indent="-342900">
              <a:lnSpc>
                <a:spcPct val="150000"/>
              </a:lnSpc>
              <a:buSzPct val="100000"/>
              <a:buFont typeface="Symbol"/>
              <a:buChar char="·"/>
              <a:defRPr sz="2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architecture follows a sequential process known as the </a:t>
            </a:r>
            <a:r>
              <a:rPr>
                <a:solidFill>
                  <a:srgbClr val="FF0000"/>
                </a:solidFill>
              </a:rPr>
              <a:t>Fetch-Decode-Execute</a:t>
            </a:r>
            <a:r>
              <a:t> cycle.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16" name="TextBox 6"/>
          <p:cNvSpPr txBox="1"/>
          <p:nvPr/>
        </p:nvSpPr>
        <p:spPr>
          <a:xfrm>
            <a:off x="416610" y="1282602"/>
            <a:ext cx="8327107" cy="48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Central Processing Unit (CPU)</a:t>
            </a:r>
          </a:p>
        </p:txBody>
      </p:sp>
      <p:pic>
        <p:nvPicPr>
          <p:cNvPr id="11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51983" y="559280"/>
            <a:ext cx="3772882" cy="2458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20" name="TextBox 6"/>
          <p:cNvSpPr txBox="1"/>
          <p:nvPr/>
        </p:nvSpPr>
        <p:spPr>
          <a:xfrm>
            <a:off x="416610" y="1282602"/>
            <a:ext cx="8327107" cy="1878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Central Processing Unit (CPU)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CPU, often referred to as the "brain" of the computer, performs most of the calculations and instructions in a computer.</a:t>
            </a:r>
          </a:p>
        </p:txBody>
      </p:sp>
      <p:pic>
        <p:nvPicPr>
          <p:cNvPr id="12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51983" y="559280"/>
            <a:ext cx="3772882" cy="2458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24" name="TextBox 6"/>
          <p:cNvSpPr txBox="1"/>
          <p:nvPr/>
        </p:nvSpPr>
        <p:spPr>
          <a:xfrm>
            <a:off x="416610" y="1282601"/>
            <a:ext cx="8327107" cy="2808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Central Processing Unit (CPU)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CPU, often referred to as the "brain" of the computer, performs most of the calculations and instructions in a computer.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carries out tasks such as arithmetic operations, logic operations, and controlling the flow of data.</a:t>
            </a:r>
          </a:p>
        </p:txBody>
      </p:sp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51983" y="559280"/>
            <a:ext cx="3772882" cy="2458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28" name="TextBox 6"/>
          <p:cNvSpPr txBox="1"/>
          <p:nvPr/>
        </p:nvSpPr>
        <p:spPr>
          <a:xfrm>
            <a:off x="416610" y="1282602"/>
            <a:ext cx="8327107" cy="466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Central Processing Unit (CPU)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CPU, often referred to as the "brain" of the computer, performs most of the calculations and instructions in a computer.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carries out tasks such as arithmetic operations, logic operations, and controlling the flow of data.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CPU consists of the control unit, which manages the execution of instructions, and the arithmetic logic unit (ALU), which performs mathematical and logical operations.</a:t>
            </a:r>
          </a:p>
        </p:txBody>
      </p:sp>
      <p:pic>
        <p:nvPicPr>
          <p:cNvPr id="129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51983" y="559280"/>
            <a:ext cx="3772882" cy="24581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32" name="TextBox 6"/>
          <p:cNvSpPr txBox="1"/>
          <p:nvPr/>
        </p:nvSpPr>
        <p:spPr>
          <a:xfrm>
            <a:off x="416611" y="1021343"/>
            <a:ext cx="8327107" cy="45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Memory (RAM)</a:t>
            </a:r>
          </a:p>
        </p:txBody>
      </p:sp>
      <p:pic>
        <p:nvPicPr>
          <p:cNvPr id="133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36" name="TextBox 6"/>
          <p:cNvSpPr txBox="1"/>
          <p:nvPr/>
        </p:nvSpPr>
        <p:spPr>
          <a:xfrm>
            <a:off x="416611" y="1021343"/>
            <a:ext cx="8327107" cy="1766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Memory (RAM)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Random Access Memory (RAM) is the temporary storage space where the computer stores data and instructions that are actively being used.</a:t>
            </a:r>
          </a:p>
        </p:txBody>
      </p:sp>
      <p:pic>
        <p:nvPicPr>
          <p:cNvPr id="13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40" name="TextBox 6"/>
          <p:cNvSpPr txBox="1"/>
          <p:nvPr/>
        </p:nvSpPr>
        <p:spPr>
          <a:xfrm>
            <a:off x="416611" y="1021343"/>
            <a:ext cx="8327107" cy="1766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Memory (RAM)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Random Access Memory (RAM) is the temporary storage space where the computer stores data and instructions that are actively being used.</a:t>
            </a:r>
          </a:p>
        </p:txBody>
      </p:sp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TextBox 2"/>
          <p:cNvSpPr txBox="1"/>
          <p:nvPr/>
        </p:nvSpPr>
        <p:spPr>
          <a:xfrm>
            <a:off x="342356" y="2925006"/>
            <a:ext cx="11358776" cy="458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RAM is </a:t>
            </a:r>
            <a:r>
              <a:rPr>
                <a:solidFill>
                  <a:srgbClr val="FF0000"/>
                </a:solidFill>
              </a:rPr>
              <a:t>volatile</a:t>
            </a:r>
            <a:r>
              <a:t>, meaning its contents are lost when the computer is powered off.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45" name="TextBox 6"/>
          <p:cNvSpPr txBox="1"/>
          <p:nvPr/>
        </p:nvSpPr>
        <p:spPr>
          <a:xfrm>
            <a:off x="416611" y="1021343"/>
            <a:ext cx="8327107" cy="1766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Memory (RAM)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Random Access Memory (RAM) is the temporary storage space where the computer stores data and instructions that are actively being used.</a:t>
            </a:r>
          </a:p>
        </p:txBody>
      </p:sp>
      <p:pic>
        <p:nvPicPr>
          <p:cNvPr id="146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TextBox 2"/>
          <p:cNvSpPr txBox="1"/>
          <p:nvPr/>
        </p:nvSpPr>
        <p:spPr>
          <a:xfrm>
            <a:off x="342356" y="2925006"/>
            <a:ext cx="11358776" cy="133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RAM is </a:t>
            </a:r>
            <a:r>
              <a:rPr>
                <a:solidFill>
                  <a:srgbClr val="FF0000"/>
                </a:solidFill>
              </a:rPr>
              <a:t>volatile</a:t>
            </a:r>
            <a:r>
              <a:t>, meaning its contents are lost when the computer is powered off.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the Von Neumann architecture, memory is used to store both data and instructions.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50" name="TextBox 6"/>
          <p:cNvSpPr txBox="1"/>
          <p:nvPr/>
        </p:nvSpPr>
        <p:spPr>
          <a:xfrm>
            <a:off x="416611" y="1021343"/>
            <a:ext cx="8327107" cy="1766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Memory (RAM)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Random Access Memory (RAM) is the temporary storage space where the computer stores data and instructions that are actively being used.</a:t>
            </a:r>
          </a:p>
        </p:txBody>
      </p:sp>
      <p:pic>
        <p:nvPicPr>
          <p:cNvPr id="15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TextBox 2"/>
          <p:cNvSpPr txBox="1"/>
          <p:nvPr/>
        </p:nvSpPr>
        <p:spPr>
          <a:xfrm>
            <a:off x="342356" y="2925006"/>
            <a:ext cx="11358776" cy="1766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RAM is </a:t>
            </a:r>
            <a:r>
              <a:rPr>
                <a:solidFill>
                  <a:srgbClr val="FF0000"/>
                </a:solidFill>
              </a:rPr>
              <a:t>volatile</a:t>
            </a:r>
            <a:r>
              <a:t>, meaning its contents are lost when the computer is powered off.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the Von Neumann architecture, memory is used to store both data and instructions.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memory is divided into two primary components: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55" name="TextBox 6"/>
          <p:cNvSpPr txBox="1"/>
          <p:nvPr/>
        </p:nvSpPr>
        <p:spPr>
          <a:xfrm>
            <a:off x="416611" y="1021343"/>
            <a:ext cx="8327107" cy="1766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Memory (RAM)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Random Access Memory (RAM) is the temporary storage space where the computer stores data and instructions that are actively being used.</a:t>
            </a:r>
          </a:p>
        </p:txBody>
      </p:sp>
      <p:pic>
        <p:nvPicPr>
          <p:cNvPr id="156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TextBox 2"/>
          <p:cNvSpPr txBox="1"/>
          <p:nvPr/>
        </p:nvSpPr>
        <p:spPr>
          <a:xfrm>
            <a:off x="342356" y="2925006"/>
            <a:ext cx="11358776" cy="2638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RAM is </a:t>
            </a:r>
            <a:r>
              <a:rPr>
                <a:solidFill>
                  <a:srgbClr val="FF0000"/>
                </a:solidFill>
              </a:rPr>
              <a:t>volatile</a:t>
            </a:r>
            <a:r>
              <a:t>, meaning its contents are lost when the computer is powered off.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the Von Neumann architecture, memory is used to store both data and instructions.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memory is divided into two primary components:</a:t>
            </a:r>
          </a:p>
          <a:p>
            <a:pPr lvl="1" marL="742950" indent="-285750">
              <a:lnSpc>
                <a:spcPct val="115000"/>
              </a:lnSpc>
              <a:buSzPct val="100000"/>
              <a:buFont typeface="Courier New"/>
              <a:buChar char="o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Instruction Memory: It stores the program instructions that the CPU fetches and executes.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60" name="TextBox 6"/>
          <p:cNvSpPr txBox="1"/>
          <p:nvPr/>
        </p:nvSpPr>
        <p:spPr>
          <a:xfrm>
            <a:off x="416611" y="1021343"/>
            <a:ext cx="8327107" cy="1766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Memory (RAM)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Random Access Memory (RAM) is the temporary storage space where the computer stores data and instructions that are actively being used.</a:t>
            </a:r>
          </a:p>
        </p:txBody>
      </p:sp>
      <p:pic>
        <p:nvPicPr>
          <p:cNvPr id="16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TextBox 2"/>
          <p:cNvSpPr txBox="1"/>
          <p:nvPr/>
        </p:nvSpPr>
        <p:spPr>
          <a:xfrm>
            <a:off x="342356" y="2925006"/>
            <a:ext cx="11358776" cy="351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RAM is </a:t>
            </a:r>
            <a:r>
              <a:rPr>
                <a:solidFill>
                  <a:srgbClr val="FF0000"/>
                </a:solidFill>
              </a:rPr>
              <a:t>volatile</a:t>
            </a:r>
            <a:r>
              <a:t>, meaning its contents are lost when the computer is powered off.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the Von Neumann architecture, memory is used to store both data and instructions.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memory is divided into two primary components:</a:t>
            </a:r>
          </a:p>
          <a:p>
            <a:pPr lvl="1" marL="742950" indent="-285750">
              <a:lnSpc>
                <a:spcPct val="115000"/>
              </a:lnSpc>
              <a:buSzPct val="100000"/>
              <a:buFont typeface="Courier New"/>
              <a:buChar char="o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Instruction Memory: It stores the program instructions that the CPU fetches and executes.</a:t>
            </a:r>
          </a:p>
          <a:p>
            <a:pPr lvl="1" marL="742950" indent="-285750">
              <a:lnSpc>
                <a:spcPct val="115000"/>
              </a:lnSpc>
              <a:buSzPct val="100000"/>
              <a:buFont typeface="Courier New"/>
              <a:buChar char="o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Memory: This stores data used by the CPU during execution, such as variables, inputs, and intermediate results.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65" name="TextBox 6"/>
          <p:cNvSpPr txBox="1"/>
          <p:nvPr/>
        </p:nvSpPr>
        <p:spPr>
          <a:xfrm>
            <a:off x="416611" y="1021343"/>
            <a:ext cx="8327107" cy="482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Storage Devices</a:t>
            </a:r>
          </a:p>
        </p:txBody>
      </p:sp>
      <p:pic>
        <p:nvPicPr>
          <p:cNvPr id="166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69" name="TextBox 6"/>
          <p:cNvSpPr txBox="1"/>
          <p:nvPr/>
        </p:nvSpPr>
        <p:spPr>
          <a:xfrm>
            <a:off x="416611" y="1021343"/>
            <a:ext cx="8327107" cy="2343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Storage Devices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 Disk Drive (HDD): HDDs provide long-term storage for programs, data files, and the operating system. They use magnetic disks to store and retrieve data.</a:t>
            </a:r>
          </a:p>
        </p:txBody>
      </p:sp>
      <p:pic>
        <p:nvPicPr>
          <p:cNvPr id="170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73" name="TextBox 6"/>
          <p:cNvSpPr txBox="1"/>
          <p:nvPr/>
        </p:nvSpPr>
        <p:spPr>
          <a:xfrm>
            <a:off x="416611" y="1021343"/>
            <a:ext cx="8327107" cy="3738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Storage Devices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 Disk Drive (HDD): HDDs provide long-term storage for programs, data files, and the operating system. They use magnetic disks to store and retrieve data.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Solid State Drive (SSD): SSDs are similar to HDDs but use flash memory technology for faster data access and improved reliability.</a:t>
            </a:r>
          </a:p>
        </p:txBody>
      </p:sp>
      <p:pic>
        <p:nvPicPr>
          <p:cNvPr id="174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77" name="TextBox 6"/>
          <p:cNvSpPr txBox="1"/>
          <p:nvPr/>
        </p:nvSpPr>
        <p:spPr>
          <a:xfrm>
            <a:off x="416611" y="1021343"/>
            <a:ext cx="8327107" cy="5133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Storage Devices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 Disk Drive (HDD): HDDs provide long-term storage for programs, data files, and the operating system. They use magnetic disks to store and retrieve data.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Solid State Drive (SSD): SSDs are similar to HDDs but use flash memory technology for faster data access and improved reliability.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Optical Drives: Optical drives, such as CD/DVD drives, are used for reading and writing data on optical discs.</a:t>
            </a:r>
          </a:p>
        </p:txBody>
      </p:sp>
      <p:pic>
        <p:nvPicPr>
          <p:cNvPr id="178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81" name="TextBox 6"/>
          <p:cNvSpPr txBox="1"/>
          <p:nvPr/>
        </p:nvSpPr>
        <p:spPr>
          <a:xfrm>
            <a:off x="416611" y="1422559"/>
            <a:ext cx="8327107" cy="544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Motherboard</a:t>
            </a:r>
          </a:p>
        </p:txBody>
      </p:sp>
      <p:pic>
        <p:nvPicPr>
          <p:cNvPr id="18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85" name="TextBox 6"/>
          <p:cNvSpPr txBox="1"/>
          <p:nvPr/>
        </p:nvSpPr>
        <p:spPr>
          <a:xfrm>
            <a:off x="416611" y="1422560"/>
            <a:ext cx="8327107" cy="2157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Motherboard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motherboard is the main circuit board that connects and allows communication between various hardware components of the computer.</a:t>
            </a:r>
          </a:p>
        </p:txBody>
      </p:sp>
      <p:pic>
        <p:nvPicPr>
          <p:cNvPr id="186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89" name="TextBox 6"/>
          <p:cNvSpPr txBox="1"/>
          <p:nvPr/>
        </p:nvSpPr>
        <p:spPr>
          <a:xfrm>
            <a:off x="416611" y="1422559"/>
            <a:ext cx="8327107" cy="3233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Motherboard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motherboard is the main circuit board that connects and allows communication between various hardware components of the computer.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houses the CPU, memory modules, storage devices, and other essential components.</a:t>
            </a:r>
          </a:p>
        </p:txBody>
      </p:sp>
      <p:pic>
        <p:nvPicPr>
          <p:cNvPr id="190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93" name="TextBox 6"/>
          <p:cNvSpPr txBox="1"/>
          <p:nvPr/>
        </p:nvSpPr>
        <p:spPr>
          <a:xfrm>
            <a:off x="416611" y="1422559"/>
            <a:ext cx="8327107" cy="544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Graphics Processing Unit (GPU)</a:t>
            </a:r>
          </a:p>
        </p:txBody>
      </p:sp>
      <p:pic>
        <p:nvPicPr>
          <p:cNvPr id="194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197" name="TextBox 6"/>
          <p:cNvSpPr txBox="1"/>
          <p:nvPr/>
        </p:nvSpPr>
        <p:spPr>
          <a:xfrm>
            <a:off x="416611" y="1422559"/>
            <a:ext cx="8327107" cy="2695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Graphics Processing Unit (GPU)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GPU, also known as the graphics card, is responsible for rendering and displaying images, videos, and 3D graphics on the computer screen.</a:t>
            </a:r>
          </a:p>
        </p:txBody>
      </p:sp>
      <p:pic>
        <p:nvPicPr>
          <p:cNvPr id="198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201" name="TextBox 6"/>
          <p:cNvSpPr txBox="1"/>
          <p:nvPr/>
        </p:nvSpPr>
        <p:spPr>
          <a:xfrm>
            <a:off x="416611" y="1422559"/>
            <a:ext cx="8327107" cy="4308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Graphics Processing Unit (GPU)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GPU, also known as the graphics card, is responsible for rendering and displaying images, videos, and 3D graphics on the computer screen.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offloads the graphics-related computations from the CPU, allowing for smooth and efficient visual processing.</a:t>
            </a:r>
          </a:p>
        </p:txBody>
      </p:sp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205" name="TextBox 6"/>
          <p:cNvSpPr txBox="1"/>
          <p:nvPr/>
        </p:nvSpPr>
        <p:spPr>
          <a:xfrm>
            <a:off x="416611" y="1422559"/>
            <a:ext cx="8327107" cy="605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Input and Output Devices</a:t>
            </a:r>
          </a:p>
        </p:txBody>
      </p:sp>
      <p:pic>
        <p:nvPicPr>
          <p:cNvPr id="206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209" name="TextBox 6"/>
          <p:cNvSpPr txBox="1"/>
          <p:nvPr/>
        </p:nvSpPr>
        <p:spPr>
          <a:xfrm>
            <a:off x="416611" y="1422559"/>
            <a:ext cx="8327107" cy="2436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Input and Output Devices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Input devices allow the user to input information to the computer: keyboard, mouse, microphone, etc.</a:t>
            </a:r>
          </a:p>
        </p:txBody>
      </p:sp>
      <p:pic>
        <p:nvPicPr>
          <p:cNvPr id="210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4"/>
          <p:cNvSpPr txBox="1"/>
          <p:nvPr/>
        </p:nvSpPr>
        <p:spPr>
          <a:xfrm>
            <a:off x="416612" y="275690"/>
            <a:ext cx="11210264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Hardware</a:t>
            </a:r>
          </a:p>
        </p:txBody>
      </p:sp>
      <p:sp>
        <p:nvSpPr>
          <p:cNvPr id="213" name="TextBox 6"/>
          <p:cNvSpPr txBox="1"/>
          <p:nvPr/>
        </p:nvSpPr>
        <p:spPr>
          <a:xfrm>
            <a:off x="416611" y="1422560"/>
            <a:ext cx="8327107" cy="4268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Input and Output Devices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Input devices allow the user to input information to the computer: keyboard, mouse, microphone, etc.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Output devices allow the computer to output information: monitor, printer, speakers, etc.</a:t>
            </a:r>
          </a:p>
        </p:txBody>
      </p:sp>
      <p:pic>
        <p:nvPicPr>
          <p:cNvPr id="214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6626" y="559280"/>
            <a:ext cx="3008240" cy="1959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2"/>
          <p:cNvSpPr txBox="1"/>
          <p:nvPr/>
        </p:nvSpPr>
        <p:spPr>
          <a:xfrm>
            <a:off x="323306" y="292333"/>
            <a:ext cx="1154616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Fetch-Decode-Execute Cycle</a:t>
            </a:r>
          </a:p>
        </p:txBody>
      </p:sp>
      <p:sp>
        <p:nvSpPr>
          <p:cNvPr id="217" name="TextBox 4"/>
          <p:cNvSpPr txBox="1"/>
          <p:nvPr/>
        </p:nvSpPr>
        <p:spPr>
          <a:xfrm>
            <a:off x="388620" y="1228001"/>
            <a:ext cx="11331562" cy="121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Von Neumann architecture follows a sequential process known as the Fetch-Decode-Execute cycle: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Box 2"/>
          <p:cNvSpPr txBox="1"/>
          <p:nvPr/>
        </p:nvSpPr>
        <p:spPr>
          <a:xfrm>
            <a:off x="323306" y="292333"/>
            <a:ext cx="1154616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Fetch-Decode-Execute Cycle</a:t>
            </a:r>
          </a:p>
        </p:txBody>
      </p:sp>
      <p:sp>
        <p:nvSpPr>
          <p:cNvPr id="220" name="TextBox 4"/>
          <p:cNvSpPr txBox="1"/>
          <p:nvPr/>
        </p:nvSpPr>
        <p:spPr>
          <a:xfrm>
            <a:off x="388620" y="1228001"/>
            <a:ext cx="11331562" cy="1826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Von Neumann architecture follows a sequential process known as the Fetch-Decode-Execute cycle:</a:t>
            </a:r>
          </a:p>
          <a:p>
            <a:pPr lvl="1" marL="742950" indent="-285750">
              <a:lnSpc>
                <a:spcPct val="115000"/>
              </a:lnSpc>
              <a:buSzPct val="100000"/>
              <a:buFont typeface="Courier New"/>
              <a:buChar char="o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CPU </a:t>
            </a:r>
            <a:r>
              <a:rPr>
                <a:solidFill>
                  <a:srgbClr val="FF0000"/>
                </a:solidFill>
              </a:rPr>
              <a:t>fetches</a:t>
            </a:r>
            <a:r>
              <a:t> an instruction from memory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2"/>
          <p:cNvSpPr txBox="1"/>
          <p:nvPr/>
        </p:nvSpPr>
        <p:spPr>
          <a:xfrm>
            <a:off x="323306" y="292333"/>
            <a:ext cx="1154616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Fetch-Decode-Execute Cycle</a:t>
            </a:r>
          </a:p>
        </p:txBody>
      </p:sp>
      <p:sp>
        <p:nvSpPr>
          <p:cNvPr id="223" name="TextBox 4"/>
          <p:cNvSpPr txBox="1"/>
          <p:nvPr/>
        </p:nvSpPr>
        <p:spPr>
          <a:xfrm>
            <a:off x="388620" y="1228000"/>
            <a:ext cx="11331562" cy="2436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Von Neumann architecture follows a sequential process known as the Fetch-Decode-Execute cycle:</a:t>
            </a:r>
          </a:p>
          <a:p>
            <a:pPr lvl="1" marL="742950" indent="-285750">
              <a:lnSpc>
                <a:spcPct val="115000"/>
              </a:lnSpc>
              <a:buSzPct val="100000"/>
              <a:buFont typeface="Courier New"/>
              <a:buChar char="o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CPU </a:t>
            </a:r>
            <a:r>
              <a:rPr>
                <a:solidFill>
                  <a:srgbClr val="FF0000"/>
                </a:solidFill>
              </a:rPr>
              <a:t>fetches</a:t>
            </a:r>
            <a:r>
              <a:t> an instruction from memory</a:t>
            </a:r>
          </a:p>
          <a:p>
            <a:pPr lvl="1" marL="742950" indent="-285750">
              <a:lnSpc>
                <a:spcPct val="115000"/>
              </a:lnSpc>
              <a:buSzPct val="100000"/>
              <a:buFont typeface="Courier New"/>
              <a:buChar char="o"/>
              <a:defRPr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decodes</a:t>
            </a:r>
            <a:r>
              <a:rPr>
                <a:solidFill>
                  <a:srgbClr val="000000"/>
                </a:solidFill>
              </a:rPr>
              <a:t> it to understand the operation to be performed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2"/>
          <p:cNvSpPr txBox="1"/>
          <p:nvPr/>
        </p:nvSpPr>
        <p:spPr>
          <a:xfrm>
            <a:off x="323306" y="292333"/>
            <a:ext cx="1154616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Fetch-Decode-Execute Cycle</a:t>
            </a:r>
          </a:p>
        </p:txBody>
      </p:sp>
      <p:sp>
        <p:nvSpPr>
          <p:cNvPr id="226" name="TextBox 4"/>
          <p:cNvSpPr txBox="1"/>
          <p:nvPr/>
        </p:nvSpPr>
        <p:spPr>
          <a:xfrm>
            <a:off x="388620" y="1228001"/>
            <a:ext cx="11331562" cy="3047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Von Neumann architecture follows a sequential process known as the Fetch-Decode-Execute cycle:</a:t>
            </a:r>
          </a:p>
          <a:p>
            <a:pPr lvl="1" marL="742950" indent="-285750">
              <a:lnSpc>
                <a:spcPct val="115000"/>
              </a:lnSpc>
              <a:buSzPct val="100000"/>
              <a:buFont typeface="Courier New"/>
              <a:buChar char="o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CPU </a:t>
            </a:r>
            <a:r>
              <a:rPr>
                <a:solidFill>
                  <a:srgbClr val="FF0000"/>
                </a:solidFill>
              </a:rPr>
              <a:t>fetches</a:t>
            </a:r>
            <a:r>
              <a:t> an instruction from memory</a:t>
            </a:r>
          </a:p>
          <a:p>
            <a:pPr lvl="1" marL="742950" indent="-285750">
              <a:lnSpc>
                <a:spcPct val="115000"/>
              </a:lnSpc>
              <a:buSzPct val="100000"/>
              <a:buFont typeface="Courier New"/>
              <a:buChar char="o"/>
              <a:defRPr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decodes</a:t>
            </a:r>
            <a:r>
              <a:rPr>
                <a:solidFill>
                  <a:srgbClr val="000000"/>
                </a:solidFill>
              </a:rPr>
              <a:t> it to understand the operation to be performed</a:t>
            </a:r>
          </a:p>
          <a:p>
            <a:pPr lvl="1" marL="742950" indent="-285750">
              <a:lnSpc>
                <a:spcPct val="115000"/>
              </a:lnSpc>
              <a:buSzPct val="100000"/>
              <a:buFont typeface="Courier New"/>
              <a:buChar char="o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then </a:t>
            </a:r>
            <a:r>
              <a:rPr>
                <a:solidFill>
                  <a:srgbClr val="FF0000"/>
                </a:solidFill>
              </a:rPr>
              <a:t>executes</a:t>
            </a:r>
            <a:r>
              <a:t> the instruction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Box 2"/>
          <p:cNvSpPr txBox="1"/>
          <p:nvPr/>
        </p:nvSpPr>
        <p:spPr>
          <a:xfrm>
            <a:off x="323306" y="292333"/>
            <a:ext cx="1154616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Fetch-Decode-Execute Cycle</a:t>
            </a:r>
          </a:p>
        </p:txBody>
      </p:sp>
      <p:sp>
        <p:nvSpPr>
          <p:cNvPr id="229" name="TextBox 4"/>
          <p:cNvSpPr txBox="1"/>
          <p:nvPr/>
        </p:nvSpPr>
        <p:spPr>
          <a:xfrm>
            <a:off x="388620" y="1228001"/>
            <a:ext cx="11331562" cy="4268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Von Neumann architecture follows a sequential process known as the Fetch-Decode-Execute cycle:</a:t>
            </a:r>
          </a:p>
          <a:p>
            <a:pPr lvl="1" marL="742950" indent="-285750">
              <a:lnSpc>
                <a:spcPct val="115000"/>
              </a:lnSpc>
              <a:buSzPct val="100000"/>
              <a:buFont typeface="Courier New"/>
              <a:buChar char="o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CPU </a:t>
            </a:r>
            <a:r>
              <a:rPr>
                <a:solidFill>
                  <a:srgbClr val="FF0000"/>
                </a:solidFill>
              </a:rPr>
              <a:t>fetches</a:t>
            </a:r>
            <a:r>
              <a:t> an instruction from memory</a:t>
            </a:r>
          </a:p>
          <a:p>
            <a:pPr lvl="1" marL="742950" indent="-285750">
              <a:lnSpc>
                <a:spcPct val="115000"/>
              </a:lnSpc>
              <a:buSzPct val="100000"/>
              <a:buFont typeface="Courier New"/>
              <a:buChar char="o"/>
              <a:defRPr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decodes</a:t>
            </a:r>
            <a:r>
              <a:rPr>
                <a:solidFill>
                  <a:srgbClr val="000000"/>
                </a:solidFill>
              </a:rPr>
              <a:t> it to understand the operation to be performed</a:t>
            </a:r>
          </a:p>
          <a:p>
            <a:pPr lvl="1" marL="742950" indent="-285750">
              <a:lnSpc>
                <a:spcPct val="115000"/>
              </a:lnSpc>
              <a:buSzPct val="100000"/>
              <a:buFont typeface="Courier New"/>
              <a:buChar char="o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then </a:t>
            </a:r>
            <a:r>
              <a:rPr>
                <a:solidFill>
                  <a:srgbClr val="FF0000"/>
                </a:solidFill>
              </a:rPr>
              <a:t>executes</a:t>
            </a:r>
            <a:r>
              <a:t> the instruction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cycle repeats continuously, allowing the computer to process and execute a series of instructions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2"/>
          <p:cNvSpPr txBox="1"/>
          <p:nvPr/>
        </p:nvSpPr>
        <p:spPr>
          <a:xfrm>
            <a:off x="285983" y="15439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Software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Box 2"/>
          <p:cNvSpPr txBox="1"/>
          <p:nvPr/>
        </p:nvSpPr>
        <p:spPr>
          <a:xfrm>
            <a:off x="285983" y="15439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Software</a:t>
            </a:r>
          </a:p>
        </p:txBody>
      </p:sp>
      <p:sp>
        <p:nvSpPr>
          <p:cNvPr id="234" name="TextBox 4"/>
          <p:cNvSpPr txBox="1"/>
          <p:nvPr/>
        </p:nvSpPr>
        <p:spPr>
          <a:xfrm>
            <a:off x="285983" y="977902"/>
            <a:ext cx="11480853" cy="947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marL="288925" indent="-285750">
              <a:lnSpc>
                <a:spcPct val="115000"/>
              </a:lnSpc>
              <a:buSzPct val="100000"/>
              <a:buFont typeface="Courier New"/>
              <a:buChar char="o"/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System software </a:t>
            </a:r>
            <a:r>
              <a:rPr>
                <a:solidFill>
                  <a:srgbClr val="000000"/>
                </a:solidFill>
              </a:rPr>
              <a:t>is a collection of computer programs that manage the resources of a computer and facilitates access to those resources.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Box 2"/>
          <p:cNvSpPr txBox="1"/>
          <p:nvPr/>
        </p:nvSpPr>
        <p:spPr>
          <a:xfrm>
            <a:off x="285983" y="15439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Software</a:t>
            </a:r>
          </a:p>
        </p:txBody>
      </p:sp>
      <p:sp>
        <p:nvSpPr>
          <p:cNvPr id="237" name="TextBox 4"/>
          <p:cNvSpPr txBox="1"/>
          <p:nvPr/>
        </p:nvSpPr>
        <p:spPr>
          <a:xfrm>
            <a:off x="285983" y="977902"/>
            <a:ext cx="11480853" cy="1878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marL="288925" indent="-285750">
              <a:lnSpc>
                <a:spcPct val="115000"/>
              </a:lnSpc>
              <a:buSzPct val="100000"/>
              <a:buFont typeface="Courier New"/>
              <a:buChar char="o"/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System software </a:t>
            </a:r>
            <a:r>
              <a:rPr>
                <a:solidFill>
                  <a:srgbClr val="000000"/>
                </a:solidFill>
              </a:rPr>
              <a:t>is a collection of computer programs that manage the resources of a computer and facilitates access to those resources.</a:t>
            </a:r>
          </a:p>
          <a:p>
            <a:pPr lvl="2" marL="858837" indent="-285750">
              <a:lnSpc>
                <a:spcPct val="115000"/>
              </a:lnSpc>
              <a:buSzPct val="100000"/>
              <a:buChar char="▪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System software acts as an intermediary between the users and the hardware.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Box 2"/>
          <p:cNvSpPr txBox="1"/>
          <p:nvPr/>
        </p:nvSpPr>
        <p:spPr>
          <a:xfrm>
            <a:off x="285983" y="15439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Software</a:t>
            </a:r>
          </a:p>
        </p:txBody>
      </p:sp>
      <p:sp>
        <p:nvSpPr>
          <p:cNvPr id="240" name="TextBox 4"/>
          <p:cNvSpPr txBox="1"/>
          <p:nvPr/>
        </p:nvSpPr>
        <p:spPr>
          <a:xfrm>
            <a:off x="285983" y="977902"/>
            <a:ext cx="11480853" cy="2808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marL="288925" indent="-285750">
              <a:lnSpc>
                <a:spcPct val="115000"/>
              </a:lnSpc>
              <a:buSzPct val="100000"/>
              <a:buFont typeface="Courier New"/>
              <a:buChar char="o"/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System software </a:t>
            </a:r>
            <a:r>
              <a:rPr>
                <a:solidFill>
                  <a:srgbClr val="000000"/>
                </a:solidFill>
              </a:rPr>
              <a:t>is a collection of computer programs that manage the resources of a computer and facilitates access to those resources.</a:t>
            </a:r>
          </a:p>
          <a:p>
            <a:pPr lvl="2" marL="858837" indent="-285750">
              <a:lnSpc>
                <a:spcPct val="115000"/>
              </a:lnSpc>
              <a:buSzPct val="100000"/>
              <a:buChar char="▪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System software acts as an intermediary between the users and the hardware.</a:t>
            </a:r>
          </a:p>
          <a:p>
            <a:pPr lvl="2" marL="858837" indent="-285750">
              <a:lnSpc>
                <a:spcPct val="115000"/>
              </a:lnSpc>
              <a:buSzPct val="100000"/>
              <a:buChar char="▪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set of services and resources created by the software and seen by the user is called a virtual machine.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2"/>
          <p:cNvSpPr txBox="1"/>
          <p:nvPr/>
        </p:nvSpPr>
        <p:spPr>
          <a:xfrm>
            <a:off x="285983" y="15439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Software</a:t>
            </a:r>
          </a:p>
        </p:txBody>
      </p:sp>
      <p:sp>
        <p:nvSpPr>
          <p:cNvPr id="243" name="TextBox 4"/>
          <p:cNvSpPr txBox="1"/>
          <p:nvPr/>
        </p:nvSpPr>
        <p:spPr>
          <a:xfrm>
            <a:off x="285983" y="977901"/>
            <a:ext cx="11480853" cy="3738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marL="288925" indent="-285750">
              <a:lnSpc>
                <a:spcPct val="115000"/>
              </a:lnSpc>
              <a:buSzPct val="100000"/>
              <a:buFont typeface="Courier New"/>
              <a:buChar char="o"/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System software </a:t>
            </a:r>
            <a:r>
              <a:rPr>
                <a:solidFill>
                  <a:srgbClr val="000000"/>
                </a:solidFill>
              </a:rPr>
              <a:t>is a collection of computer programs that manage the resources of a computer and facilitates access to those resources.</a:t>
            </a:r>
          </a:p>
          <a:p>
            <a:pPr lvl="2" marL="858837" indent="-285750">
              <a:lnSpc>
                <a:spcPct val="115000"/>
              </a:lnSpc>
              <a:buSzPct val="100000"/>
              <a:buChar char="▪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System software acts as an intermediary between the users and the hardware.</a:t>
            </a:r>
          </a:p>
          <a:p>
            <a:pPr lvl="2" marL="858837" indent="-285750">
              <a:lnSpc>
                <a:spcPct val="115000"/>
              </a:lnSpc>
              <a:buSzPct val="100000"/>
              <a:buChar char="▪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set of services and resources created by the software and seen by the user is called a virtual machine.</a:t>
            </a:r>
          </a:p>
          <a:p>
            <a:pPr lvl="2" marL="858837" indent="-285750">
              <a:lnSpc>
                <a:spcPct val="115000"/>
              </a:lnSpc>
              <a:buSzPct val="100000"/>
              <a:buChar char="▪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Examples of system software include operating systems (Windows, macOS, Linux), device drivers, and compilers.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Box 2"/>
          <p:cNvSpPr txBox="1"/>
          <p:nvPr/>
        </p:nvSpPr>
        <p:spPr>
          <a:xfrm>
            <a:off x="285983" y="15439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Software</a:t>
            </a:r>
          </a:p>
        </p:txBody>
      </p:sp>
      <p:sp>
        <p:nvSpPr>
          <p:cNvPr id="246" name="TextBox 4"/>
          <p:cNvSpPr txBox="1"/>
          <p:nvPr/>
        </p:nvSpPr>
        <p:spPr>
          <a:xfrm>
            <a:off x="285983" y="977902"/>
            <a:ext cx="11480853" cy="947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marL="168275" indent="-168275">
              <a:lnSpc>
                <a:spcPct val="115000"/>
              </a:lnSpc>
              <a:buSzPct val="100000"/>
              <a:buFont typeface="Courier New"/>
              <a:buChar char="o"/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Application software </a:t>
            </a:r>
            <a:r>
              <a:rPr>
                <a:solidFill>
                  <a:srgbClr val="000000"/>
                </a:solidFill>
              </a:rPr>
              <a:t>allows the user to address some specialized task of interest to that user.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Box 2"/>
          <p:cNvSpPr txBox="1"/>
          <p:nvPr/>
        </p:nvSpPr>
        <p:spPr>
          <a:xfrm>
            <a:off x="285983" y="15439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Software</a:t>
            </a:r>
          </a:p>
        </p:txBody>
      </p:sp>
      <p:sp>
        <p:nvSpPr>
          <p:cNvPr id="249" name="TextBox 4"/>
          <p:cNvSpPr txBox="1"/>
          <p:nvPr/>
        </p:nvSpPr>
        <p:spPr>
          <a:xfrm>
            <a:off x="285983" y="977902"/>
            <a:ext cx="11480853" cy="1878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marL="168275" indent="-168275">
              <a:lnSpc>
                <a:spcPct val="115000"/>
              </a:lnSpc>
              <a:buSzPct val="100000"/>
              <a:buFont typeface="Courier New"/>
              <a:buChar char="o"/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Application software </a:t>
            </a:r>
            <a:r>
              <a:rPr>
                <a:solidFill>
                  <a:srgbClr val="000000"/>
                </a:solidFill>
              </a:rPr>
              <a:t>allows the user to address some specialized task of interest to that user.</a:t>
            </a:r>
          </a:p>
          <a:p>
            <a:pPr lvl="2" marL="457200" indent="-168275">
              <a:lnSpc>
                <a:spcPct val="115000"/>
              </a:lnSpc>
              <a:buSzPct val="100000"/>
              <a:buChar char="▪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They are typically created to meet the needs of individuals, businesses, or specific industries.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2"/>
          <p:cNvSpPr txBox="1"/>
          <p:nvPr/>
        </p:nvSpPr>
        <p:spPr>
          <a:xfrm>
            <a:off x="285983" y="15439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Software</a:t>
            </a:r>
          </a:p>
        </p:txBody>
      </p:sp>
      <p:sp>
        <p:nvSpPr>
          <p:cNvPr id="252" name="TextBox 4"/>
          <p:cNvSpPr txBox="1"/>
          <p:nvPr/>
        </p:nvSpPr>
        <p:spPr>
          <a:xfrm>
            <a:off x="285983" y="977902"/>
            <a:ext cx="11480853" cy="2808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marL="168275" indent="-168275">
              <a:lnSpc>
                <a:spcPct val="115000"/>
              </a:lnSpc>
              <a:buSzPct val="100000"/>
              <a:buFont typeface="Courier New"/>
              <a:buChar char="o"/>
              <a:defRPr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Application software </a:t>
            </a:r>
            <a:r>
              <a:rPr>
                <a:solidFill>
                  <a:srgbClr val="000000"/>
                </a:solidFill>
              </a:rPr>
              <a:t>allows the user to address some specialized task of interest to that user.</a:t>
            </a:r>
          </a:p>
          <a:p>
            <a:pPr lvl="2" marL="457200" indent="-168275">
              <a:lnSpc>
                <a:spcPct val="115000"/>
              </a:lnSpc>
              <a:buSzPct val="100000"/>
              <a:buChar char="▪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They are typically created to meet the needs of individuals, businesses, or specific industries.</a:t>
            </a:r>
          </a:p>
          <a:p>
            <a:pPr lvl="2" marL="457200" indent="-168275">
              <a:lnSpc>
                <a:spcPct val="115000"/>
              </a:lnSpc>
              <a:buSzPct val="100000"/>
              <a:buChar char="▪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Examples of application software include word processors, spreadsheets, and web browsers.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2"/>
          <p:cNvSpPr txBox="1"/>
          <p:nvPr/>
        </p:nvSpPr>
        <p:spPr>
          <a:xfrm>
            <a:off x="239330" y="100784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Languages</a:t>
            </a:r>
          </a:p>
        </p:txBody>
      </p:sp>
      <p:pic>
        <p:nvPicPr>
          <p:cNvPr id="255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69354" y="1998711"/>
            <a:ext cx="2585513" cy="2571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Box 2"/>
          <p:cNvSpPr txBox="1"/>
          <p:nvPr/>
        </p:nvSpPr>
        <p:spPr>
          <a:xfrm>
            <a:off x="239330" y="100784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Languages</a:t>
            </a:r>
          </a:p>
        </p:txBody>
      </p:sp>
      <p:sp>
        <p:nvSpPr>
          <p:cNvPr id="258" name="TextBox 4"/>
          <p:cNvSpPr txBox="1"/>
          <p:nvPr/>
        </p:nvSpPr>
        <p:spPr>
          <a:xfrm>
            <a:off x="411946" y="1140296"/>
            <a:ext cx="7949215" cy="1081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Once a computer was created, there was a need to communicate with it; but how? </a:t>
            </a:r>
          </a:p>
        </p:txBody>
      </p:sp>
      <p:pic>
        <p:nvPicPr>
          <p:cNvPr id="25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69354" y="1998711"/>
            <a:ext cx="2585513" cy="2571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Box 2"/>
          <p:cNvSpPr txBox="1"/>
          <p:nvPr/>
        </p:nvSpPr>
        <p:spPr>
          <a:xfrm>
            <a:off x="239330" y="100784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Languages</a:t>
            </a:r>
          </a:p>
        </p:txBody>
      </p:sp>
      <p:sp>
        <p:nvSpPr>
          <p:cNvPr id="262" name="TextBox 4"/>
          <p:cNvSpPr txBox="1"/>
          <p:nvPr/>
        </p:nvSpPr>
        <p:spPr>
          <a:xfrm>
            <a:off x="411946" y="1140296"/>
            <a:ext cx="7949215" cy="323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Once a computer was created, there was a need to communicate with it; but how? 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At its core, computers are a set of </a:t>
            </a:r>
            <a:r>
              <a:rPr>
                <a:solidFill>
                  <a:srgbClr val="FF0000"/>
                </a:solidFill>
              </a:rPr>
              <a:t>electronic</a:t>
            </a:r>
            <a:r>
              <a:t> instructions. These electronic instructions can be broken down to the very basic idea: electricity on and electricity off.</a:t>
            </a:r>
          </a:p>
        </p:txBody>
      </p:sp>
      <p:pic>
        <p:nvPicPr>
          <p:cNvPr id="26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69354" y="1998711"/>
            <a:ext cx="2585513" cy="2571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Box 2"/>
          <p:cNvSpPr txBox="1"/>
          <p:nvPr/>
        </p:nvSpPr>
        <p:spPr>
          <a:xfrm>
            <a:off x="239330" y="100784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Languages</a:t>
            </a:r>
          </a:p>
        </p:txBody>
      </p:sp>
      <p:sp>
        <p:nvSpPr>
          <p:cNvPr id="266" name="TextBox 4"/>
          <p:cNvSpPr txBox="1"/>
          <p:nvPr/>
        </p:nvSpPr>
        <p:spPr>
          <a:xfrm>
            <a:off x="411946" y="1140295"/>
            <a:ext cx="7949215" cy="4308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Once a computer was created, there was a need to communicate with it; but how? 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At its core, computers are a set of </a:t>
            </a:r>
            <a:r>
              <a:rPr>
                <a:solidFill>
                  <a:srgbClr val="FF0000"/>
                </a:solidFill>
              </a:rPr>
              <a:t>electronic</a:t>
            </a:r>
            <a:r>
              <a:t> instructions. These electronic instructions can be broken down to the very basic idea: electricity on and electricity off.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is how the computer language of binary came to be (binary has two states: </a:t>
            </a:r>
            <a:r>
              <a:rPr>
                <a:solidFill>
                  <a:srgbClr val="FF0000"/>
                </a:solidFill>
              </a:rPr>
              <a:t>on and off</a:t>
            </a:r>
            <a:r>
              <a:t>)</a:t>
            </a:r>
          </a:p>
        </p:txBody>
      </p:sp>
      <p:pic>
        <p:nvPicPr>
          <p:cNvPr id="267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69354" y="1998711"/>
            <a:ext cx="2585513" cy="2571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Box 2"/>
          <p:cNvSpPr txBox="1"/>
          <p:nvPr/>
        </p:nvSpPr>
        <p:spPr>
          <a:xfrm>
            <a:off x="239330" y="100784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Languages</a:t>
            </a:r>
          </a:p>
        </p:txBody>
      </p:sp>
      <p:sp>
        <p:nvSpPr>
          <p:cNvPr id="270" name="TextBox 4"/>
          <p:cNvSpPr txBox="1"/>
          <p:nvPr/>
        </p:nvSpPr>
        <p:spPr>
          <a:xfrm>
            <a:off x="411946" y="1140295"/>
            <a:ext cx="7949215" cy="1412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We will discuss more about binary code in Unit 2, but for now, know that the binary language is how a machine is able to execute instruction.</a:t>
            </a:r>
          </a:p>
        </p:txBody>
      </p:sp>
      <p:pic>
        <p:nvPicPr>
          <p:cNvPr id="27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69354" y="1998711"/>
            <a:ext cx="2585513" cy="2571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Box 2"/>
          <p:cNvSpPr txBox="1"/>
          <p:nvPr/>
        </p:nvSpPr>
        <p:spPr>
          <a:xfrm>
            <a:off x="239330" y="100784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Languages</a:t>
            </a:r>
          </a:p>
        </p:txBody>
      </p:sp>
      <p:sp>
        <p:nvSpPr>
          <p:cNvPr id="274" name="TextBox 4"/>
          <p:cNvSpPr txBox="1"/>
          <p:nvPr/>
        </p:nvSpPr>
        <p:spPr>
          <a:xfrm>
            <a:off x="411946" y="1140295"/>
            <a:ext cx="7949215" cy="2808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 will discuss more about binary code in Unit 2, but for now, know that the binary language is how a machine is able to execute instruction.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Binary is a series of 1s and 0s that a computer executes (where 1 represents electricity </a:t>
            </a:r>
            <a:r>
              <a:rPr>
                <a:solidFill>
                  <a:srgbClr val="FF0000"/>
                </a:solidFill>
              </a:rPr>
              <a:t>on</a:t>
            </a:r>
            <a:r>
              <a:t> and 0 represents electricity </a:t>
            </a:r>
            <a:r>
              <a:rPr>
                <a:solidFill>
                  <a:srgbClr val="FF0000"/>
                </a:solidFill>
              </a:rPr>
              <a:t>off</a:t>
            </a:r>
            <a:r>
              <a:t>)</a:t>
            </a:r>
          </a:p>
        </p:txBody>
      </p:sp>
      <p:pic>
        <p:nvPicPr>
          <p:cNvPr id="275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69354" y="1998711"/>
            <a:ext cx="2585513" cy="2571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Box 2"/>
          <p:cNvSpPr txBox="1"/>
          <p:nvPr/>
        </p:nvSpPr>
        <p:spPr>
          <a:xfrm>
            <a:off x="239330" y="100784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Computer Languages</a:t>
            </a:r>
          </a:p>
        </p:txBody>
      </p:sp>
      <p:sp>
        <p:nvSpPr>
          <p:cNvPr id="278" name="TextBox 4"/>
          <p:cNvSpPr txBox="1"/>
          <p:nvPr/>
        </p:nvSpPr>
        <p:spPr>
          <a:xfrm>
            <a:off x="411946" y="1140295"/>
            <a:ext cx="7949215" cy="4668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 will discuss more about binary code in Unit 2, but for now, know that the binary language is how a machine is able to execute instruction.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Binary is a series of 1s and 0s that a computer executes (where 1 represents electricity </a:t>
            </a:r>
            <a:r>
              <a:rPr>
                <a:solidFill>
                  <a:srgbClr val="FF0000"/>
                </a:solidFill>
              </a:rPr>
              <a:t>on</a:t>
            </a:r>
            <a:r>
              <a:t> and 0 represents electricity </a:t>
            </a:r>
            <a:r>
              <a:rPr>
                <a:solidFill>
                  <a:srgbClr val="FF0000"/>
                </a:solidFill>
              </a:rPr>
              <a:t>off</a:t>
            </a:r>
            <a:r>
              <a:t>)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However, binary is complex and difficult for humans to write and understand. There was a need to develop higher-level languages that are more human-readable and easier to work with.</a:t>
            </a:r>
          </a:p>
        </p:txBody>
      </p:sp>
      <p:pic>
        <p:nvPicPr>
          <p:cNvPr id="27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69354" y="1998711"/>
            <a:ext cx="2585513" cy="2571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Box 2"/>
          <p:cNvSpPr txBox="1"/>
          <p:nvPr/>
        </p:nvSpPr>
        <p:spPr>
          <a:xfrm>
            <a:off x="276653" y="156767"/>
            <a:ext cx="951209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Pseudocode to High-Level Language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Box 2"/>
          <p:cNvSpPr txBox="1"/>
          <p:nvPr/>
        </p:nvSpPr>
        <p:spPr>
          <a:xfrm>
            <a:off x="276653" y="156767"/>
            <a:ext cx="951209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Pseudocode to High-Level Language</a:t>
            </a:r>
          </a:p>
        </p:txBody>
      </p:sp>
      <p:sp>
        <p:nvSpPr>
          <p:cNvPr id="284" name="TextBox 4"/>
          <p:cNvSpPr txBox="1"/>
          <p:nvPr/>
        </p:nvSpPr>
        <p:spPr>
          <a:xfrm>
            <a:off x="276653" y="982409"/>
            <a:ext cx="11182272" cy="121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Unfortunately, there is no way to convert human language into binary directly.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Box 2"/>
          <p:cNvSpPr txBox="1"/>
          <p:nvPr/>
        </p:nvSpPr>
        <p:spPr>
          <a:xfrm>
            <a:off x="276653" y="156767"/>
            <a:ext cx="951209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Pseudocode to High-Level Language</a:t>
            </a:r>
          </a:p>
        </p:txBody>
      </p:sp>
      <p:sp>
        <p:nvSpPr>
          <p:cNvPr id="287" name="TextBox 4"/>
          <p:cNvSpPr txBox="1"/>
          <p:nvPr/>
        </p:nvSpPr>
        <p:spPr>
          <a:xfrm>
            <a:off x="276653" y="982409"/>
            <a:ext cx="11182272" cy="2436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Unfortunately, there is no way to convert human language into binary directly.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Human language is riddled with ambiguities and assumptions that computers cannot handle.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Box 2"/>
          <p:cNvSpPr txBox="1"/>
          <p:nvPr/>
        </p:nvSpPr>
        <p:spPr>
          <a:xfrm>
            <a:off x="276653" y="156767"/>
            <a:ext cx="951209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Pseudocode to High-Level Language</a:t>
            </a:r>
          </a:p>
        </p:txBody>
      </p:sp>
      <p:sp>
        <p:nvSpPr>
          <p:cNvPr id="290" name="TextBox 4"/>
          <p:cNvSpPr txBox="1"/>
          <p:nvPr/>
        </p:nvSpPr>
        <p:spPr>
          <a:xfrm>
            <a:off x="276653" y="982409"/>
            <a:ext cx="11182272" cy="4878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Unfortunately, there is no way to convert human language into binary directly.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Human language is riddled with ambiguities and assumptions that computers cannot handle.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After human language, the next step in the language spectrum is to create a </a:t>
            </a:r>
            <a:r>
              <a:rPr>
                <a:solidFill>
                  <a:srgbClr val="FF0000"/>
                </a:solidFill>
              </a:rPr>
              <a:t>pseudocode</a:t>
            </a:r>
            <a:r>
              <a:t> – an artificial and informal language that helps programmers develop algorithms.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Box 2"/>
          <p:cNvSpPr txBox="1"/>
          <p:nvPr/>
        </p:nvSpPr>
        <p:spPr>
          <a:xfrm>
            <a:off x="276653" y="156767"/>
            <a:ext cx="951209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Pseudocode to High-Level Language</a:t>
            </a:r>
          </a:p>
        </p:txBody>
      </p:sp>
      <p:sp>
        <p:nvSpPr>
          <p:cNvPr id="293" name="TextBox 4"/>
          <p:cNvSpPr txBox="1"/>
          <p:nvPr/>
        </p:nvSpPr>
        <p:spPr>
          <a:xfrm>
            <a:off x="276653" y="982408"/>
            <a:ext cx="11182272" cy="5489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Unfortunately, there is no way to convert human language into binary directly.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Human language is riddled with ambiguities and assumptions that computers cannot handle.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After human language, the next step in the language spectrum is to create a </a:t>
            </a:r>
            <a:r>
              <a:rPr>
                <a:solidFill>
                  <a:srgbClr val="FF0000"/>
                </a:solidFill>
              </a:rPr>
              <a:t>pseudocode</a:t>
            </a:r>
            <a:r>
              <a:t> – an artificial and informal language that helps programmers develop algorithms. 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Pseudocode is a "text-based" design tool.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" name="Table 1"/>
          <p:cNvGraphicFramePr/>
          <p:nvPr/>
        </p:nvGraphicFramePr>
        <p:xfrm>
          <a:off x="241041" y="276915"/>
          <a:ext cx="11720804" cy="5116180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4732860"/>
                <a:gridCol w="6987944"/>
              </a:tblGrid>
              <a:tr h="78832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Human Language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Pseudocode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32785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" name="Table 1"/>
          <p:cNvGraphicFramePr/>
          <p:nvPr/>
        </p:nvGraphicFramePr>
        <p:xfrm>
          <a:off x="241041" y="276915"/>
          <a:ext cx="11720804" cy="5116180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4732860"/>
                <a:gridCol w="6987944"/>
              </a:tblGrid>
              <a:tr h="78832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Human Language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Pseudocode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32785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 will input 10 grades into the computer gradebook and print the average of the 10 grades.
 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9" name="Table 1"/>
          <p:cNvGraphicFramePr/>
          <p:nvPr/>
        </p:nvGraphicFramePr>
        <p:xfrm>
          <a:off x="241041" y="276915"/>
          <a:ext cx="11720804" cy="5116180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4732860"/>
                <a:gridCol w="6987944"/>
              </a:tblGrid>
              <a:tr h="78832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Human Language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Pseudocode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32785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 will input 10 grades into the computer gradebook and print the average of the 10 grades.
 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Set sum to zero</a:t>
                      </a:r>
                    </a:p>
                    <a:p>
                      <a:pPr algn="l">
                        <a:defRPr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Set grade counter to one</a:t>
                      </a:r>
                    </a:p>
                    <a:p>
                      <a:pPr algn="l">
                        <a:defRPr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While grade counter is less than or equal to ten</a:t>
                      </a:r>
                    </a:p>
                    <a:p>
                      <a:pPr indent="457200" algn="l">
                        <a:defRPr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Input the next grade</a:t>
                      </a:r>
                    </a:p>
                    <a:p>
                      <a:pPr indent="457200" algn="l">
                        <a:defRPr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Add the grade into the sum</a:t>
                      </a:r>
                    </a:p>
                    <a:p>
                      <a:pPr indent="457200" algn="l">
                        <a:defRPr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Increment counter by one</a:t>
                      </a:r>
                    </a:p>
                    <a:p>
                      <a:pPr algn="l">
                        <a:defRPr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Set the class average to the sum divided by ten</a:t>
                      </a:r>
                    </a:p>
                    <a:p>
                      <a:pPr algn="l">
                        <a:defRPr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Print the average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Box 2"/>
          <p:cNvSpPr txBox="1"/>
          <p:nvPr/>
        </p:nvSpPr>
        <p:spPr>
          <a:xfrm>
            <a:off x="407281" y="471187"/>
            <a:ext cx="11378216" cy="1215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While this provides a great way to write and develop </a:t>
            </a:r>
            <a:r>
              <a:rPr>
                <a:solidFill>
                  <a:srgbClr val="FF0000"/>
                </a:solidFill>
              </a:rPr>
              <a:t>algorithms</a:t>
            </a:r>
            <a:r>
              <a:t>, the computer cannot understand pseudocode.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Box 2"/>
          <p:cNvSpPr txBox="1"/>
          <p:nvPr/>
        </p:nvSpPr>
        <p:spPr>
          <a:xfrm>
            <a:off x="407281" y="471187"/>
            <a:ext cx="11378216" cy="2436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While this provides a great way to write and develop </a:t>
            </a:r>
            <a:r>
              <a:rPr>
                <a:solidFill>
                  <a:srgbClr val="FF0000"/>
                </a:solidFill>
              </a:rPr>
              <a:t>algorithms</a:t>
            </a:r>
            <a:r>
              <a:t>, the computer cannot understand pseudocode.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After pseudocode, the next step is a programming language.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Box 2"/>
          <p:cNvSpPr txBox="1"/>
          <p:nvPr/>
        </p:nvSpPr>
        <p:spPr>
          <a:xfrm>
            <a:off x="407281" y="471187"/>
            <a:ext cx="11378216" cy="4268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While this provides a great way to write and develop </a:t>
            </a:r>
            <a:r>
              <a:rPr>
                <a:solidFill>
                  <a:srgbClr val="FF0000"/>
                </a:solidFill>
              </a:rPr>
              <a:t>algorithms</a:t>
            </a:r>
            <a:r>
              <a:t>, the computer cannot understand pseudocode.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After pseudocode, the next step is a programming language.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programming language is a formal language with a defined set of rules and </a:t>
            </a:r>
            <a:r>
              <a:rPr>
                <a:solidFill>
                  <a:srgbClr val="FF0000"/>
                </a:solidFill>
              </a:rPr>
              <a:t>syntax</a:t>
            </a:r>
            <a:r>
              <a:t> that allows programmers to write instructions and algorithms for a computer to execute.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" name="Table 2"/>
          <p:cNvGraphicFramePr/>
          <p:nvPr/>
        </p:nvGraphicFramePr>
        <p:xfrm>
          <a:off x="235597" y="495134"/>
          <a:ext cx="11720805" cy="400222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65364"/>
                <a:gridCol w="5143088"/>
                <a:gridCol w="3612352"/>
              </a:tblGrid>
              <a:tr h="612891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Human Language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Pseudocode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Programming Language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338933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 will input 10 grades into the computer gradebook and print the average of the 10 grades.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Set sum to zero</a:t>
                      </a:r>
                    </a:p>
                    <a:p>
                      <a:pPr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Set grade counter to one</a:t>
                      </a:r>
                    </a:p>
                    <a:p>
                      <a:pPr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While grade counter is less than or equal to ten</a:t>
                      </a:r>
                    </a:p>
                    <a:p>
                      <a:pPr indent="457200"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Input the next grade</a:t>
                      </a:r>
                    </a:p>
                    <a:p>
                      <a:pPr indent="457200"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Add the grade into the sum</a:t>
                      </a:r>
                    </a:p>
                    <a:p>
                      <a:pPr indent="457200"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Increment counter by one</a:t>
                      </a:r>
                    </a:p>
                    <a:p>
                      <a:pPr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Set the class average to the sum divided by ten</a:t>
                      </a:r>
                    </a:p>
                    <a:p>
                      <a:pPr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Print the average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" name="Table 2"/>
          <p:cNvGraphicFramePr/>
          <p:nvPr/>
        </p:nvGraphicFramePr>
        <p:xfrm>
          <a:off x="235597" y="495134"/>
          <a:ext cx="11720805" cy="400222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2965364"/>
                <a:gridCol w="5143088"/>
                <a:gridCol w="3612352"/>
              </a:tblGrid>
              <a:tr h="612891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Human Language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Pseudocode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Programming Language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338933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 will input 10 grades into the computer gradebook and print the average of the 10 grades.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Set sum to zero</a:t>
                      </a:r>
                    </a:p>
                    <a:p>
                      <a:pPr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Set grade counter to one</a:t>
                      </a:r>
                    </a:p>
                    <a:p>
                      <a:pPr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While grade counter is less than or equal to ten</a:t>
                      </a:r>
                    </a:p>
                    <a:p>
                      <a:pPr indent="457200"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Input the next grade</a:t>
                      </a:r>
                    </a:p>
                    <a:p>
                      <a:pPr indent="457200"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Add the grade into the sum</a:t>
                      </a:r>
                    </a:p>
                    <a:p>
                      <a:pPr indent="457200"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Increment counter by one</a:t>
                      </a:r>
                    </a:p>
                    <a:p>
                      <a:pPr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Set the class average to the sum divided by ten</a:t>
                      </a:r>
                    </a:p>
                    <a:p>
                      <a:pPr algn="l">
                        <a:def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Print the average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 = 0
counter = 1
while counter &lt;= 10:
   grade = int(input(“Grade:”))
   sum += grade
   count += 1
average = sum / 10
print(average)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Box 2"/>
          <p:cNvSpPr txBox="1"/>
          <p:nvPr/>
        </p:nvSpPr>
        <p:spPr>
          <a:xfrm>
            <a:off x="323306" y="193223"/>
            <a:ext cx="971736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Programming Languages</a:t>
            </a:r>
          </a:p>
        </p:txBody>
      </p:sp>
      <p:sp>
        <p:nvSpPr>
          <p:cNvPr id="312" name="TextBox 4"/>
          <p:cNvSpPr txBox="1"/>
          <p:nvPr/>
        </p:nvSpPr>
        <p:spPr>
          <a:xfrm>
            <a:off x="593893" y="1328066"/>
            <a:ext cx="10921015" cy="2423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Programming languages provide a structured way for programmers to express their logic, data manipulations, and computational tasks in a format that can be understood by computers. They offer a set of keywords, symbols, and rules that define how programs are written.</a:t>
            </a:r>
          </a:p>
        </p:txBody>
      </p:sp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16024" y="3959442"/>
            <a:ext cx="5624048" cy="27053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Box 2"/>
          <p:cNvSpPr txBox="1"/>
          <p:nvPr/>
        </p:nvSpPr>
        <p:spPr>
          <a:xfrm>
            <a:off x="323304" y="249522"/>
            <a:ext cx="11630143" cy="1483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Syntax</a:t>
            </a:r>
            <a:r>
              <a:rPr>
                <a:solidFill>
                  <a:srgbClr val="000000"/>
                </a:solidFill>
              </a:rPr>
              <a:t>: Programming languages have specific rules and syntax that dictate how programs should be written.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Box 2"/>
          <p:cNvSpPr txBox="1"/>
          <p:nvPr/>
        </p:nvSpPr>
        <p:spPr>
          <a:xfrm>
            <a:off x="323304" y="249522"/>
            <a:ext cx="11630143" cy="289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Syntax</a:t>
            </a:r>
            <a:r>
              <a:rPr>
                <a:solidFill>
                  <a:srgbClr val="000000"/>
                </a:solidFill>
              </a:rPr>
              <a:t>: Programming languages have specific rules and syntax that dictate how programs should be written.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Types</a:t>
            </a:r>
            <a:r>
              <a:rPr>
                <a:solidFill>
                  <a:srgbClr val="000000"/>
                </a:solidFill>
              </a:rPr>
              <a:t>: Programming languages define different data types that determine how data is stored and manipulated in the program.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Box 2"/>
          <p:cNvSpPr txBox="1"/>
          <p:nvPr/>
        </p:nvSpPr>
        <p:spPr>
          <a:xfrm>
            <a:off x="323304" y="249523"/>
            <a:ext cx="11630143" cy="4303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Syntax</a:t>
            </a:r>
            <a:r>
              <a:rPr>
                <a:solidFill>
                  <a:srgbClr val="000000"/>
                </a:solidFill>
              </a:rPr>
              <a:t>: Programming languages have specific rules and syntax that dictate how programs should be written.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Types</a:t>
            </a:r>
            <a:r>
              <a:rPr>
                <a:solidFill>
                  <a:srgbClr val="000000"/>
                </a:solidFill>
              </a:rPr>
              <a:t>: Programming languages define different data types that determine how data is stored and manipulated in the program.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Variables</a:t>
            </a:r>
            <a:r>
              <a:rPr>
                <a:solidFill>
                  <a:srgbClr val="000000"/>
                </a:solidFill>
              </a:rPr>
              <a:t>: Programmers can declare variables to store and manipulate data during program execution.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Box 2"/>
          <p:cNvSpPr txBox="1"/>
          <p:nvPr/>
        </p:nvSpPr>
        <p:spPr>
          <a:xfrm>
            <a:off x="323304" y="249523"/>
            <a:ext cx="11630143" cy="5712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Syntax</a:t>
            </a:r>
            <a:r>
              <a:rPr>
                <a:solidFill>
                  <a:srgbClr val="000000"/>
                </a:solidFill>
              </a:rPr>
              <a:t>: Programming languages have specific rules and syntax that dictate how programs should be written.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Types</a:t>
            </a:r>
            <a:r>
              <a:rPr>
                <a:solidFill>
                  <a:srgbClr val="000000"/>
                </a:solidFill>
              </a:rPr>
              <a:t>: Programming languages define different data types that determine how data is stored and manipulated in the program.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Variables</a:t>
            </a:r>
            <a:r>
              <a:rPr>
                <a:solidFill>
                  <a:srgbClr val="000000"/>
                </a:solidFill>
              </a:rPr>
              <a:t>: Programmers can declare variables to store and manipulate data during program execution.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Control Structures</a:t>
            </a:r>
            <a:r>
              <a:rPr>
                <a:solidFill>
                  <a:srgbClr val="000000"/>
                </a:solidFill>
              </a:rPr>
              <a:t>: Programming languages provide control structures such as conditional statements (if-else, switch) and loops (for, while) to control the flow of execution within a program.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Box 2"/>
          <p:cNvSpPr txBox="1"/>
          <p:nvPr/>
        </p:nvSpPr>
        <p:spPr>
          <a:xfrm>
            <a:off x="285981" y="289678"/>
            <a:ext cx="11396879" cy="195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Functions and Procedures</a:t>
            </a:r>
            <a:r>
              <a:rPr>
                <a:solidFill>
                  <a:srgbClr val="000000"/>
                </a:solidFill>
              </a:rPr>
              <a:t>: Languages allow the definition and use of functions and procedures, which are reusable blocks of code that perform specific tasks.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Box 2"/>
          <p:cNvSpPr txBox="1"/>
          <p:nvPr/>
        </p:nvSpPr>
        <p:spPr>
          <a:xfrm>
            <a:off x="285981" y="289679"/>
            <a:ext cx="11396879" cy="3833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Functions and Procedures</a:t>
            </a:r>
            <a:r>
              <a:rPr>
                <a:solidFill>
                  <a:srgbClr val="000000"/>
                </a:solidFill>
              </a:rPr>
              <a:t>: Languages allow the definition and use of functions and procedures, which are reusable blocks of code that perform specific tasks.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Libraries</a:t>
            </a:r>
            <a:r>
              <a:rPr>
                <a:solidFill>
                  <a:srgbClr val="000000"/>
                </a:solidFill>
              </a:rPr>
              <a:t>: Programming languages often provide libraries that offer pre-written code for common tasks, allowing developers to use existing coding solutions.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Box 2"/>
          <p:cNvSpPr txBox="1"/>
          <p:nvPr/>
        </p:nvSpPr>
        <p:spPr>
          <a:xfrm>
            <a:off x="285981" y="289678"/>
            <a:ext cx="11396879" cy="4773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Functions and Procedures</a:t>
            </a:r>
            <a:r>
              <a:rPr>
                <a:solidFill>
                  <a:srgbClr val="000000"/>
                </a:solidFill>
              </a:rPr>
              <a:t>: Languages allow the definition and use of functions and procedures, which are reusable blocks of code that perform specific tasks.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Libraries</a:t>
            </a:r>
            <a:r>
              <a:rPr>
                <a:solidFill>
                  <a:srgbClr val="000000"/>
                </a:solidFill>
              </a:rPr>
              <a:t>: Programming languages often provide libraries that offer pre-written code for common tasks, allowing developers to use existing coding solutions.</a:t>
            </a:r>
            <a:endParaRPr>
              <a:solidFill>
                <a:srgbClr val="000000"/>
              </a:solidFill>
            </a:endParaRPr>
          </a:p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Compilation</a:t>
            </a:r>
            <a:r>
              <a:rPr>
                <a:solidFill>
                  <a:srgbClr val="000000"/>
                </a:solidFill>
              </a:rPr>
              <a:t>: Programming languages are compiled, meaning they are translated into machine code before execution.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Box 2"/>
          <p:cNvSpPr txBox="1"/>
          <p:nvPr/>
        </p:nvSpPr>
        <p:spPr>
          <a:xfrm>
            <a:off x="304644" y="212201"/>
            <a:ext cx="11555498" cy="889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Examples of popular programming languages include: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Box 2"/>
          <p:cNvSpPr txBox="1"/>
          <p:nvPr/>
        </p:nvSpPr>
        <p:spPr>
          <a:xfrm>
            <a:off x="304644" y="212201"/>
            <a:ext cx="11555498" cy="170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Examples of popular programming languages include: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C/C++: Languages known for their efficiency and close interaction with hardware.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Box 2"/>
          <p:cNvSpPr txBox="1"/>
          <p:nvPr/>
        </p:nvSpPr>
        <p:spPr>
          <a:xfrm>
            <a:off x="304644" y="212200"/>
            <a:ext cx="11555498" cy="2514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Examples of popular programming languages include: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C/C++: Languages known for their efficiency and close interaction with hardware.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Java: A widely used language known for its platform independence and object-oriented programming features.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Box 2"/>
          <p:cNvSpPr txBox="1"/>
          <p:nvPr/>
        </p:nvSpPr>
        <p:spPr>
          <a:xfrm>
            <a:off x="304644" y="212200"/>
            <a:ext cx="11555498" cy="3327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Examples of popular programming languages include: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C/C++: Languages known for their efficiency and close interaction with hardware.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Java: A widely used language known for its platform independence and object-oriented programming features.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Python: A high-level language known for its simplicity, readability, and extensive libraries.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Box 2"/>
          <p:cNvSpPr txBox="1"/>
          <p:nvPr/>
        </p:nvSpPr>
        <p:spPr>
          <a:xfrm>
            <a:off x="304644" y="212201"/>
            <a:ext cx="11555498" cy="4140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Examples of popular programming languages include: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C/C++: Languages known for their efficiency and close interaction with hardware.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Java: A widely used language known for its platform independence and object-oriented programming features.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Python: A high-level language known for its simplicity, readability, and extensive libraries.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JavaScript: A language primarily used for web development, enabling interactivity and dynamic content on web pages.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Box 2"/>
          <p:cNvSpPr txBox="1"/>
          <p:nvPr/>
        </p:nvSpPr>
        <p:spPr>
          <a:xfrm>
            <a:off x="304644" y="212200"/>
            <a:ext cx="11555498" cy="4953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Examples of popular programming languages include: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C/C++: Languages known for their efficiency and close interaction with hardware.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Java: A widely used language known for its platform independence and object-oriented programming features.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Python: A high-level language known for its simplicity, readability, and extensive libraries.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JavaScript: A language primarily used for web development, enabling interactivity and dynamic content on web pages.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Ruby: A language known for its elegant syntax and focus on simplicity and productivity.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Box 2"/>
          <p:cNvSpPr txBox="1"/>
          <p:nvPr/>
        </p:nvSpPr>
        <p:spPr>
          <a:xfrm>
            <a:off x="304644" y="212200"/>
            <a:ext cx="11555498" cy="5765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Examples of popular programming languages include: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C/C++: Languages known for their efficiency and close interaction with hardware.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Java: A widely used language known for its platform independence and object-oriented programming features.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Python: A high-level language known for its simplicity, readability, and extensive libraries.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JavaScript: A language primarily used for web development, enabling interactivity and dynamic content on web pages.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Ruby: A language known for its elegant syntax and focus on simplicity and productivity.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Swift: A language developed by Apple for iOS, macOS, and other Apple platforms.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Box 2"/>
          <p:cNvSpPr txBox="1"/>
          <p:nvPr/>
        </p:nvSpPr>
        <p:spPr>
          <a:xfrm>
            <a:off x="248660" y="21794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Compilation Process</a:t>
            </a:r>
          </a:p>
        </p:txBody>
      </p:sp>
      <p:sp>
        <p:nvSpPr>
          <p:cNvPr id="344" name="TextBox 4"/>
          <p:cNvSpPr txBox="1"/>
          <p:nvPr/>
        </p:nvSpPr>
        <p:spPr>
          <a:xfrm>
            <a:off x="248661" y="925828"/>
            <a:ext cx="8252461" cy="409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Machine Language:</a:t>
            </a:r>
          </a:p>
        </p:txBody>
      </p:sp>
      <p:graphicFrame>
        <p:nvGraphicFramePr>
          <p:cNvPr id="345" name="Table 5"/>
          <p:cNvGraphicFramePr/>
          <p:nvPr/>
        </p:nvGraphicFramePr>
        <p:xfrm>
          <a:off x="8658807" y="1325896"/>
          <a:ext cx="3330252" cy="433778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3330251"/>
              </a:tblGrid>
              <a:tr h="271112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Language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1626668">
                <a:tc>
                  <a:txBody>
                    <a:bodyPr/>
                    <a:lstStyle/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0000 0000 0000 0000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0000 0000 0000 0010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0000 0000 0000 0011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0001 1101 0000 0001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0001 1110 0000 0010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0101 1110 1101 1110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711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Assembly Language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2168893">
                <a:tc>
                  <a:txBody>
                    <a:bodyPr/>
                    <a:lstStyle/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TOTAL .BLOCK 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ABC .WORD 2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XYZ .WORD 3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LOAD REGD, ABC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LOAD REGE, XYZ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ADD REGF, REGD, REGE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STORE REGF, TOTAL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HALT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Box 2"/>
          <p:cNvSpPr txBox="1"/>
          <p:nvPr/>
        </p:nvSpPr>
        <p:spPr>
          <a:xfrm>
            <a:off x="248660" y="21794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Compilation Process</a:t>
            </a:r>
          </a:p>
        </p:txBody>
      </p:sp>
      <p:sp>
        <p:nvSpPr>
          <p:cNvPr id="348" name="TextBox 4"/>
          <p:cNvSpPr txBox="1"/>
          <p:nvPr/>
        </p:nvSpPr>
        <p:spPr>
          <a:xfrm>
            <a:off x="248661" y="925828"/>
            <a:ext cx="8252461" cy="1070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Language: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 is a </a:t>
            </a:r>
            <a:r>
              <a:rPr>
                <a:solidFill>
                  <a:srgbClr val="FF0000"/>
                </a:solidFill>
              </a:rPr>
              <a:t>low-level </a:t>
            </a:r>
            <a:r>
              <a:t>programming language that consists of binary code that can be directly executed by a computer's CPU.</a:t>
            </a:r>
          </a:p>
        </p:txBody>
      </p:sp>
      <p:graphicFrame>
        <p:nvGraphicFramePr>
          <p:cNvPr id="349" name="Table 5"/>
          <p:cNvGraphicFramePr/>
          <p:nvPr/>
        </p:nvGraphicFramePr>
        <p:xfrm>
          <a:off x="8658807" y="1325896"/>
          <a:ext cx="3330252" cy="433778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3330251"/>
              </a:tblGrid>
              <a:tr h="271112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Language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1626668">
                <a:tc>
                  <a:txBody>
                    <a:bodyPr/>
                    <a:lstStyle/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0000 0000 0000 0000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0000 0000 0000 0010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0000 0000 0000 0011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0001 1101 0000 0001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0001 1110 0000 0010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0101 1110 1101 1110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711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Assembly Language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2168893">
                <a:tc>
                  <a:txBody>
                    <a:bodyPr/>
                    <a:lstStyle/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TOTAL .BLOCK 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ABC .WORD 2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XYZ .WORD 3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LOAD REGD, ABC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LOAD REGE, XYZ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ADD REGF, REGD, REGE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STORE REGF, TOTAL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HALT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Box 2"/>
          <p:cNvSpPr txBox="1"/>
          <p:nvPr/>
        </p:nvSpPr>
        <p:spPr>
          <a:xfrm>
            <a:off x="248660" y="21794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Compilation Process</a:t>
            </a:r>
          </a:p>
        </p:txBody>
      </p:sp>
      <p:sp>
        <p:nvSpPr>
          <p:cNvPr id="352" name="TextBox 4"/>
          <p:cNvSpPr txBox="1"/>
          <p:nvPr/>
        </p:nvSpPr>
        <p:spPr>
          <a:xfrm>
            <a:off x="248661" y="925828"/>
            <a:ext cx="8252461" cy="1400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Language: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 is a </a:t>
            </a:r>
            <a:r>
              <a:rPr>
                <a:solidFill>
                  <a:srgbClr val="FF0000"/>
                </a:solidFill>
              </a:rPr>
              <a:t>low-level </a:t>
            </a:r>
            <a:r>
              <a:t>programming language that consists of binary code that can be directly executed by a computer's CPU.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machine language is specific to the computer architecture.</a:t>
            </a:r>
          </a:p>
        </p:txBody>
      </p:sp>
      <p:graphicFrame>
        <p:nvGraphicFramePr>
          <p:cNvPr id="353" name="Table 5"/>
          <p:cNvGraphicFramePr/>
          <p:nvPr/>
        </p:nvGraphicFramePr>
        <p:xfrm>
          <a:off x="8658807" y="1325896"/>
          <a:ext cx="3330252" cy="433778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3330251"/>
              </a:tblGrid>
              <a:tr h="271112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Language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1626668">
                <a:tc>
                  <a:txBody>
                    <a:bodyPr/>
                    <a:lstStyle/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0000 0000 0000 0000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0000 0000 0000 0010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0000 0000 0000 0011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0001 1101 0000 0001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0001 1110 0000 0010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0101 1110 1101 1110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711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Assembly Language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2168893">
                <a:tc>
                  <a:txBody>
                    <a:bodyPr/>
                    <a:lstStyle/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TOTAL .BLOCK 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ABC .WORD 2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XYZ .WORD 3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LOAD REGD, ABC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LOAD REGE, XYZ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ADD REGF, REGD, REGE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STORE REGF, TOTAL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HALT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Box 2"/>
          <p:cNvSpPr txBox="1"/>
          <p:nvPr/>
        </p:nvSpPr>
        <p:spPr>
          <a:xfrm>
            <a:off x="248660" y="21794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Compilation Process</a:t>
            </a:r>
          </a:p>
        </p:txBody>
      </p:sp>
      <p:sp>
        <p:nvSpPr>
          <p:cNvPr id="356" name="TextBox 4"/>
          <p:cNvSpPr txBox="1"/>
          <p:nvPr/>
        </p:nvSpPr>
        <p:spPr>
          <a:xfrm>
            <a:off x="248661" y="925828"/>
            <a:ext cx="8252461" cy="2390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Language: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 is a </a:t>
            </a:r>
            <a:r>
              <a:rPr>
                <a:solidFill>
                  <a:srgbClr val="FF0000"/>
                </a:solidFill>
              </a:rPr>
              <a:t>low-level </a:t>
            </a:r>
            <a:r>
              <a:t>programming language that consists of binary code that can be directly executed by a computer's CPU.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machine language is specific to the computer architecture.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 instructions directly correspond to the operations and data manipulation performed by the computer's hardware.</a:t>
            </a:r>
          </a:p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</p:txBody>
      </p:sp>
      <p:graphicFrame>
        <p:nvGraphicFramePr>
          <p:cNvPr id="357" name="Table 5"/>
          <p:cNvGraphicFramePr/>
          <p:nvPr/>
        </p:nvGraphicFramePr>
        <p:xfrm>
          <a:off x="8658807" y="1325896"/>
          <a:ext cx="3330252" cy="433778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3330251"/>
              </a:tblGrid>
              <a:tr h="271112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Language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1626668">
                <a:tc>
                  <a:txBody>
                    <a:bodyPr/>
                    <a:lstStyle/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0000 0000 0000 0000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0000 0000 0000 0010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0000 0000 0000 0011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0001 1101 0000 0001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0001 1110 0000 0010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0101 1110 1101 1110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711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Assembly Language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2168893">
                <a:tc>
                  <a:txBody>
                    <a:bodyPr/>
                    <a:lstStyle/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TOTAL .BLOCK 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ABC .WORD 2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XYZ .WORD 3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LOAD REGD, ABC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LOAD REGE, XYZ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ADD REGF, REGD, REGE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STORE REGF, TOTAL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HALT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Box 2"/>
          <p:cNvSpPr txBox="1"/>
          <p:nvPr/>
        </p:nvSpPr>
        <p:spPr>
          <a:xfrm>
            <a:off x="248660" y="21794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Compilation Process</a:t>
            </a:r>
          </a:p>
        </p:txBody>
      </p:sp>
      <p:sp>
        <p:nvSpPr>
          <p:cNvPr id="360" name="TextBox 4"/>
          <p:cNvSpPr txBox="1"/>
          <p:nvPr/>
        </p:nvSpPr>
        <p:spPr>
          <a:xfrm>
            <a:off x="248661" y="925828"/>
            <a:ext cx="8252461" cy="3711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Language: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 is a </a:t>
            </a:r>
            <a:r>
              <a:rPr>
                <a:solidFill>
                  <a:srgbClr val="FF0000"/>
                </a:solidFill>
              </a:rPr>
              <a:t>low-level </a:t>
            </a:r>
            <a:r>
              <a:t>programming language that consists of binary code that can be directly executed by a computer's CPU.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machine language is specific to the computer architecture.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 instructions directly correspond to the operations and data manipulation performed by the computer's hardware.</a:t>
            </a:r>
          </a:p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Assembly Language: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Assembly language is a </a:t>
            </a:r>
            <a:r>
              <a:rPr>
                <a:solidFill>
                  <a:srgbClr val="FF0000"/>
                </a:solidFill>
              </a:rPr>
              <a:t>low-level</a:t>
            </a:r>
            <a:r>
              <a:t> programming language that provides a more human-readable representation of machine language instructions. </a:t>
            </a:r>
          </a:p>
        </p:txBody>
      </p:sp>
      <p:graphicFrame>
        <p:nvGraphicFramePr>
          <p:cNvPr id="361" name="Table 5"/>
          <p:cNvGraphicFramePr/>
          <p:nvPr/>
        </p:nvGraphicFramePr>
        <p:xfrm>
          <a:off x="8658807" y="1325896"/>
          <a:ext cx="3330252" cy="433778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3330251"/>
              </a:tblGrid>
              <a:tr h="271112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Language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1626668">
                <a:tc>
                  <a:txBody>
                    <a:bodyPr/>
                    <a:lstStyle/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0000 0000 0000 0000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0000 0000 0000 0010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0000 0000 0000 0011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0001 1101 0000 0001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0001 1110 0000 0010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0101 1110 1101 1110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711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Assembly Language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2168893">
                <a:tc>
                  <a:txBody>
                    <a:bodyPr/>
                    <a:lstStyle/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TOTAL .BLOCK 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ABC .WORD 2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XYZ .WORD 3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LOAD REGD, ABC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LOAD REGE, XYZ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ADD REGF, REGD, REGE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STORE REGF, TOTAL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HALT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Box 2"/>
          <p:cNvSpPr txBox="1"/>
          <p:nvPr/>
        </p:nvSpPr>
        <p:spPr>
          <a:xfrm>
            <a:off x="248660" y="21794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Compilation Process</a:t>
            </a:r>
          </a:p>
        </p:txBody>
      </p:sp>
      <p:sp>
        <p:nvSpPr>
          <p:cNvPr id="364" name="TextBox 4"/>
          <p:cNvSpPr txBox="1"/>
          <p:nvPr/>
        </p:nvSpPr>
        <p:spPr>
          <a:xfrm>
            <a:off x="248661" y="925828"/>
            <a:ext cx="8252461" cy="437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Language: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 is a </a:t>
            </a:r>
            <a:r>
              <a:rPr>
                <a:solidFill>
                  <a:srgbClr val="FF0000"/>
                </a:solidFill>
              </a:rPr>
              <a:t>low-level </a:t>
            </a:r>
            <a:r>
              <a:t>programming language that consists of binary code that can be directly executed by a computer's CPU.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machine language is specific to the computer architecture.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 instructions directly correspond to the operations and data manipulation performed by the computer's hardware.</a:t>
            </a:r>
          </a:p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Assembly Language: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Assembly language is a </a:t>
            </a:r>
            <a:r>
              <a:rPr>
                <a:solidFill>
                  <a:srgbClr val="FF0000"/>
                </a:solidFill>
              </a:rPr>
              <a:t>low-level</a:t>
            </a:r>
            <a:r>
              <a:t> programming language that provides a more human-readable representation of machine language instructions. 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uses mnemonic codes or symbols to represent individual machine instructions instead of binary code. </a:t>
            </a:r>
          </a:p>
        </p:txBody>
      </p:sp>
      <p:graphicFrame>
        <p:nvGraphicFramePr>
          <p:cNvPr id="365" name="Table 5"/>
          <p:cNvGraphicFramePr/>
          <p:nvPr/>
        </p:nvGraphicFramePr>
        <p:xfrm>
          <a:off x="8658807" y="1325896"/>
          <a:ext cx="3330252" cy="433778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3330251"/>
              </a:tblGrid>
              <a:tr h="271112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Language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1626668">
                <a:tc>
                  <a:txBody>
                    <a:bodyPr/>
                    <a:lstStyle/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0000 0000 0000 0000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0000 0000 0000 0010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0000 0000 0000 0011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0001 1101 0000 0001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0001 1110 0000 0010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0101 1110 1101 1110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711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Assembly Language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2168893">
                <a:tc>
                  <a:txBody>
                    <a:bodyPr/>
                    <a:lstStyle/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TOTAL .BLOCK 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ABC .WORD 2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XYZ .WORD 3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LOAD REGD, ABC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LOAD REGE, XYZ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ADD REGF, REGD, REGE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STORE REGF, TOTAL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HALT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Box 2"/>
          <p:cNvSpPr txBox="1"/>
          <p:nvPr/>
        </p:nvSpPr>
        <p:spPr>
          <a:xfrm>
            <a:off x="248660" y="217942"/>
            <a:ext cx="600611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Compilation Process</a:t>
            </a:r>
          </a:p>
        </p:txBody>
      </p:sp>
      <p:sp>
        <p:nvSpPr>
          <p:cNvPr id="368" name="TextBox 4"/>
          <p:cNvSpPr txBox="1"/>
          <p:nvPr/>
        </p:nvSpPr>
        <p:spPr>
          <a:xfrm>
            <a:off x="248661" y="925828"/>
            <a:ext cx="8252461" cy="5032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Language: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 is a </a:t>
            </a:r>
            <a:r>
              <a:rPr>
                <a:solidFill>
                  <a:srgbClr val="FF0000"/>
                </a:solidFill>
              </a:rPr>
              <a:t>low-level </a:t>
            </a:r>
            <a:r>
              <a:t>programming language that consists of binary code that can be directly executed by a computer's CPU.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machine language is specific to the computer architecture.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language instructions directly correspond to the operations and data manipulation performed by the computer's hardware.</a:t>
            </a:r>
          </a:p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Assembly Language: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Assembly language is a </a:t>
            </a:r>
            <a:r>
              <a:rPr>
                <a:solidFill>
                  <a:srgbClr val="FF0000"/>
                </a:solidFill>
              </a:rPr>
              <a:t>low-level</a:t>
            </a:r>
            <a:r>
              <a:t> programming language that provides a more human-readable representation of machine language instructions. 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uses mnemonic codes or symbols to represent individual machine instructions instead of binary code. </a:t>
            </a:r>
          </a:p>
          <a:p>
            <a:pPr marL="342900" indent="-342900">
              <a:buSzPct val="100000"/>
              <a:buFont typeface="Symbol"/>
              <a:buChar char="·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Each mnemonic corresponds to a specific machine instruction or operation. </a:t>
            </a:r>
          </a:p>
        </p:txBody>
      </p:sp>
      <p:graphicFrame>
        <p:nvGraphicFramePr>
          <p:cNvPr id="369" name="Table 5"/>
          <p:cNvGraphicFramePr/>
          <p:nvPr/>
        </p:nvGraphicFramePr>
        <p:xfrm>
          <a:off x="8658807" y="1325896"/>
          <a:ext cx="3330252" cy="433778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3330251"/>
              </a:tblGrid>
              <a:tr h="271112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Language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1626668">
                <a:tc>
                  <a:txBody>
                    <a:bodyPr/>
                    <a:lstStyle/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0000 0000 0000 0000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0000 0000 0000 0010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0000 0000 0000 0011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0001 1101 0000 0001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0001 1110 0000 0010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0101 1110 1101 1110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711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Assembly Language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2168893">
                <a:tc>
                  <a:txBody>
                    <a:bodyPr/>
                    <a:lstStyle/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TOTAL .BLOCK 1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ABC .WORD 2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XYZ .WORD 3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LOAD REGD, ABC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LOAD REGE, XYZ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ADD REGF, REGD, REGE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STORE REGF, TOTAL</a:t>
                      </a:r>
                    </a:p>
                    <a:p>
                      <a:pPr algn="l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HALT</a:t>
                      </a:r>
                    </a:p>
                  </a:txBody>
                  <a:tcPr marL="0" marR="0" marT="0" marB="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Box 2"/>
          <p:cNvSpPr txBox="1"/>
          <p:nvPr/>
        </p:nvSpPr>
        <p:spPr>
          <a:xfrm>
            <a:off x="448879" y="379751"/>
            <a:ext cx="11294241" cy="170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Both of these (machine and assembly language) are low-level programming languages – they work closely with the computer, and even though assembly language was a step close to human language, it was still not great to code in. Then, high level programming languages came around.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Box 2"/>
          <p:cNvSpPr txBox="1"/>
          <p:nvPr/>
        </p:nvSpPr>
        <p:spPr>
          <a:xfrm>
            <a:off x="448879" y="379750"/>
            <a:ext cx="11294241" cy="3327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Both of these (machine and assembly language) are low-level programming languages – they work closely with the computer, and even though assembly language was a step close to human language, it was still not great to code in. Then, high level programming languages came around.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Source Code: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Source code is a </a:t>
            </a:r>
            <a:r>
              <a:rPr>
                <a:solidFill>
                  <a:srgbClr val="FF0000"/>
                </a:solidFill>
              </a:rPr>
              <a:t>high-level </a:t>
            </a:r>
            <a:r>
              <a:t>programming language, such as Python, Java, or C++.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Box 2"/>
          <p:cNvSpPr txBox="1"/>
          <p:nvPr/>
        </p:nvSpPr>
        <p:spPr>
          <a:xfrm>
            <a:off x="448879" y="379750"/>
            <a:ext cx="11294241" cy="4140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Both of these (machine and assembly language) are low-level programming languages – they work closely with the computer, and even though assembly language was a step close to human language, it was still not great to code in. Then, high level programming languages came around.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Source Code: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Source code is a </a:t>
            </a:r>
            <a:r>
              <a:rPr>
                <a:solidFill>
                  <a:srgbClr val="FF0000"/>
                </a:solidFill>
              </a:rPr>
              <a:t>high-level </a:t>
            </a:r>
            <a:r>
              <a:t>programming language, such as Python, Java, or C++.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code, written in human-readable form, with syntax rules governing how to give instructions to the computer.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TextBox 2"/>
          <p:cNvSpPr txBox="1"/>
          <p:nvPr/>
        </p:nvSpPr>
        <p:spPr>
          <a:xfrm>
            <a:off x="448879" y="379750"/>
            <a:ext cx="11294241" cy="4953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Both of these (machine and assembly language) are low-level programming languages – they work closely with the computer, and even though assembly language was a step close to human language, it was still not great to code in. Then, high level programming languages came around.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 </a:t>
            </a:r>
          </a:p>
          <a:p>
            <a:pPr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Source Code: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Source code is a </a:t>
            </a:r>
            <a:r>
              <a:rPr>
                <a:solidFill>
                  <a:srgbClr val="FF0000"/>
                </a:solidFill>
              </a:rPr>
              <a:t>high-level </a:t>
            </a:r>
            <a:r>
              <a:t>programming language, such as Python, Java, or C++.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code, written in human-readable form, with syntax rules governing how to give instructions to the computer.</a:t>
            </a:r>
          </a:p>
          <a:p>
            <a:pPr marL="342900" indent="-342900"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Source code is translated into assembly language and eventually machine language by the compiler.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Box 2"/>
          <p:cNvSpPr txBox="1"/>
          <p:nvPr/>
        </p:nvSpPr>
        <p:spPr>
          <a:xfrm>
            <a:off x="631216" y="438168"/>
            <a:ext cx="10799718" cy="148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Compilation or Interpretation: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Depending on the programming language, the source code is either compiled or interpreted.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Box 2"/>
          <p:cNvSpPr txBox="1"/>
          <p:nvPr/>
        </p:nvSpPr>
        <p:spPr>
          <a:xfrm>
            <a:off x="631216" y="438167"/>
            <a:ext cx="10799718" cy="289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Compilation or Interpretation: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Depending on the programming language, the source code is either compiled or interpreted.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compiled languages like C++ or Java, a compiler translates the entire source code into machine code, also known as object code, in a process called compilation.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extBox 2"/>
          <p:cNvSpPr txBox="1"/>
          <p:nvPr/>
        </p:nvSpPr>
        <p:spPr>
          <a:xfrm>
            <a:off x="631216" y="438168"/>
            <a:ext cx="10799718" cy="4303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Compilation or Interpretation: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Depending on the programming language, the source code is either compiled or interpreted.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compiled languages like C++ or Java, a compiler translates the entire source code into machine code, also known as object code, in a process called compilation.</a:t>
            </a:r>
          </a:p>
          <a:p>
            <a:pPr marL="342900" indent="-342900"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interpreted languages like Python or JavaScript, an interpreter reads and executes the source code line by line, converting it into machine code on the fly.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Box 2"/>
          <p:cNvSpPr txBox="1"/>
          <p:nvPr/>
        </p:nvSpPr>
        <p:spPr>
          <a:xfrm>
            <a:off x="379290" y="302583"/>
            <a:ext cx="11303570" cy="161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Low-level languages offer low-level control, direct hardware interaction, and proximity to machine code but lack portability and require detailed knowledge of the hardware. </a:t>
            </a:r>
          </a:p>
        </p:txBody>
      </p:sp>
      <p:pic>
        <p:nvPicPr>
          <p:cNvPr id="386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5131" y="4132822"/>
            <a:ext cx="11171888" cy="21566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Box 2"/>
          <p:cNvSpPr txBox="1"/>
          <p:nvPr/>
        </p:nvSpPr>
        <p:spPr>
          <a:xfrm>
            <a:off x="379290" y="302584"/>
            <a:ext cx="11303570" cy="323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Low-level languages offer low-level control, direct hardware interaction, and proximity to machine code but lack portability and require detailed knowledge of the hardware. 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High-level languages provide higher-level abstractions, portability, and productivity at the cost of reduced control over hardware resources.</a:t>
            </a:r>
          </a:p>
        </p:txBody>
      </p:sp>
      <p:pic>
        <p:nvPicPr>
          <p:cNvPr id="38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5131" y="4132822"/>
            <a:ext cx="11171888" cy="21566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2"/>
          <p:cNvSpPr txBox="1"/>
          <p:nvPr/>
        </p:nvSpPr>
        <p:spPr>
          <a:xfrm>
            <a:off x="285984" y="376564"/>
            <a:ext cx="798187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Text vs Visual Programming</a:t>
            </a:r>
          </a:p>
        </p:txBody>
      </p:sp>
      <p:sp>
        <p:nvSpPr>
          <p:cNvPr id="392" name="TextBox 4"/>
          <p:cNvSpPr txBox="1"/>
          <p:nvPr/>
        </p:nvSpPr>
        <p:spPr>
          <a:xfrm>
            <a:off x="388619" y="1187683"/>
            <a:ext cx="11387548" cy="1081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Text-based programming involves writing code using programming languages.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Box 2"/>
          <p:cNvSpPr txBox="1"/>
          <p:nvPr/>
        </p:nvSpPr>
        <p:spPr>
          <a:xfrm>
            <a:off x="285984" y="376564"/>
            <a:ext cx="798187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Text vs Visual Programming</a:t>
            </a:r>
          </a:p>
        </p:txBody>
      </p:sp>
      <p:sp>
        <p:nvSpPr>
          <p:cNvPr id="395" name="TextBox 4"/>
          <p:cNvSpPr txBox="1"/>
          <p:nvPr/>
        </p:nvSpPr>
        <p:spPr>
          <a:xfrm>
            <a:off x="388619" y="1187682"/>
            <a:ext cx="11387548" cy="2695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Text-based programming involves writing code using programming languages.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this approach, programmers use a text editor or an integrated development environment (</a:t>
            </a:r>
            <a:r>
              <a:rPr>
                <a:solidFill>
                  <a:srgbClr val="FF0000"/>
                </a:solidFill>
              </a:rPr>
              <a:t>IDE</a:t>
            </a:r>
            <a:r>
              <a:t>) to write lines of code using specific syntax and rules.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Box 2"/>
          <p:cNvSpPr txBox="1"/>
          <p:nvPr/>
        </p:nvSpPr>
        <p:spPr>
          <a:xfrm>
            <a:off x="285984" y="376564"/>
            <a:ext cx="798187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Text vs Visual Programming</a:t>
            </a:r>
          </a:p>
        </p:txBody>
      </p:sp>
      <p:sp>
        <p:nvSpPr>
          <p:cNvPr id="398" name="TextBox 4"/>
          <p:cNvSpPr txBox="1"/>
          <p:nvPr/>
        </p:nvSpPr>
        <p:spPr>
          <a:xfrm>
            <a:off x="388619" y="1187682"/>
            <a:ext cx="11387548" cy="3770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Text-based programming involves writing code using programming languages.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this approach, programmers use a text editor or an integrated development environment (</a:t>
            </a:r>
            <a:r>
              <a:rPr>
                <a:solidFill>
                  <a:srgbClr val="FF0000"/>
                </a:solidFill>
              </a:rPr>
              <a:t>IDE</a:t>
            </a:r>
            <a:r>
              <a:t>) to write lines of code using specific syntax and rules.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Text-based programming allows programmers to have precise control over the logic and behavior of their programs.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Box 2"/>
          <p:cNvSpPr txBox="1"/>
          <p:nvPr/>
        </p:nvSpPr>
        <p:spPr>
          <a:xfrm>
            <a:off x="285984" y="376564"/>
            <a:ext cx="798187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000">
                <a:latin typeface="Cooper Black"/>
                <a:ea typeface="Cooper Black"/>
                <a:cs typeface="Cooper Black"/>
                <a:sym typeface="Cooper Black"/>
              </a:defRPr>
            </a:lvl1pPr>
          </a:lstStyle>
          <a:p>
            <a:pPr/>
            <a:r>
              <a:t>Text vs Visual Programming</a:t>
            </a:r>
          </a:p>
        </p:txBody>
      </p:sp>
      <p:sp>
        <p:nvSpPr>
          <p:cNvPr id="401" name="TextBox 4"/>
          <p:cNvSpPr txBox="1"/>
          <p:nvPr/>
        </p:nvSpPr>
        <p:spPr>
          <a:xfrm>
            <a:off x="388619" y="1187683"/>
            <a:ext cx="11387548" cy="4308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Text-based programming involves writing code using programming languages.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this approach, programmers use a text editor or an integrated development environment (</a:t>
            </a:r>
            <a:r>
              <a:rPr>
                <a:solidFill>
                  <a:srgbClr val="FF0000"/>
                </a:solidFill>
              </a:rPr>
              <a:t>IDE</a:t>
            </a:r>
            <a:r>
              <a:t>) to write lines of code using specific syntax and rules.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Text-based programming allows programmers to have precise control over the logic and behavior of their programs.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Examples: C++, Java, Python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TextBox 2"/>
          <p:cNvSpPr txBox="1"/>
          <p:nvPr/>
        </p:nvSpPr>
        <p:spPr>
          <a:xfrm>
            <a:off x="523524" y="570556"/>
            <a:ext cx="11144952" cy="1412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Visual-based programming, on the other hand, involves creating programs by manipulating graphical elements or blocks, rather than writing code directly.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2"/>
          <p:cNvSpPr txBox="1"/>
          <p:nvPr/>
        </p:nvSpPr>
        <p:spPr>
          <a:xfrm>
            <a:off x="523524" y="570556"/>
            <a:ext cx="11144952" cy="2808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Visual-based programming, on the other hand, involves creating programs by manipulating graphical elements or blocks, rather than writing code directly. 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uses visual programming languages or environments that allow users to build programs by arranging blocks and connecting them together to define the program's flow and behavior.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Box 2"/>
          <p:cNvSpPr txBox="1"/>
          <p:nvPr/>
        </p:nvSpPr>
        <p:spPr>
          <a:xfrm>
            <a:off x="523524" y="570556"/>
            <a:ext cx="11144952" cy="4203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Visual-based programming, on the other hand, involves creating programs by manipulating graphical elements or blocks, rather than writing code directly. 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uses visual programming languages or environments that allow users to build programs by arranging blocks and connecting them together to define the program's flow and behavior.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Visual-based programming simplifies the coding process by abstracting complex syntax and allowing users to focus more on the program's logic and structure.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Box 2"/>
          <p:cNvSpPr txBox="1"/>
          <p:nvPr/>
        </p:nvSpPr>
        <p:spPr>
          <a:xfrm>
            <a:off x="523524" y="570555"/>
            <a:ext cx="11144952" cy="4668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Visual-based programming, on the other hand, involves creating programs by manipulating graphical elements or blocks, rather than writing code directly. 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uses visual programming languages or environments that allow users to build programs by arranging blocks and connecting them together to define the program's flow and behavior.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Visual-based programming simplifies the coding process by abstracting complex syntax and allowing users to focus more on the program's logic and structure.</a:t>
            </a:r>
          </a:p>
          <a:p>
            <a:pPr marL="342900" indent="-342900">
              <a:lnSpc>
                <a:spcPct val="115000"/>
              </a:lnSpc>
              <a:buSzPct val="100000"/>
              <a:buFont typeface="Symbol"/>
              <a:buChar char="·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Examples: Scratch, Snap!, App Inventor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1" name="Table 3"/>
          <p:cNvGraphicFramePr/>
          <p:nvPr/>
        </p:nvGraphicFramePr>
        <p:xfrm>
          <a:off x="287176" y="355772"/>
          <a:ext cx="11674671" cy="540131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837335"/>
                <a:gridCol w="5837335"/>
              </a:tblGrid>
              <a:tr h="97850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Text-Based Programming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Visual-Based Programming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42280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3" name="Table 3"/>
          <p:cNvGraphicFramePr/>
          <p:nvPr/>
        </p:nvGraphicFramePr>
        <p:xfrm>
          <a:off x="287176" y="355772"/>
          <a:ext cx="11674671" cy="540131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837335"/>
                <a:gridCol w="5837335"/>
              </a:tblGrid>
              <a:tr h="97850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Text-Based Programming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Visual-Based Programming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42280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1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2467" y="1459209"/>
            <a:ext cx="5561199" cy="37752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6" name="Table 3"/>
          <p:cNvGraphicFramePr/>
          <p:nvPr/>
        </p:nvGraphicFramePr>
        <p:xfrm>
          <a:off x="287176" y="355772"/>
          <a:ext cx="11674671" cy="540131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837335"/>
                <a:gridCol w="5837335"/>
              </a:tblGrid>
              <a:tr h="97850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Text-Based Programming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i="1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Visual-Based Programming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42280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1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2467" y="1459209"/>
            <a:ext cx="5561199" cy="3775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418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50582" y="1421885"/>
            <a:ext cx="4883475" cy="41223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