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8" r:id="rId3"/>
    <p:sldId id="259" r:id="rId4"/>
    <p:sldId id="272" r:id="rId5"/>
    <p:sldId id="273" r:id="rId6"/>
    <p:sldId id="260" r:id="rId7"/>
    <p:sldId id="274" r:id="rId8"/>
    <p:sldId id="275" r:id="rId9"/>
    <p:sldId id="276" r:id="rId10"/>
    <p:sldId id="261" r:id="rId11"/>
    <p:sldId id="277" r:id="rId12"/>
    <p:sldId id="278" r:id="rId13"/>
    <p:sldId id="262" r:id="rId14"/>
    <p:sldId id="279" r:id="rId15"/>
    <p:sldId id="263" r:id="rId16"/>
    <p:sldId id="280" r:id="rId17"/>
    <p:sldId id="281" r:id="rId18"/>
    <p:sldId id="282" r:id="rId19"/>
    <p:sldId id="264" r:id="rId20"/>
    <p:sldId id="288" r:id="rId21"/>
    <p:sldId id="289" r:id="rId22"/>
    <p:sldId id="290" r:id="rId23"/>
    <p:sldId id="291" r:id="rId24"/>
    <p:sldId id="292" r:id="rId25"/>
    <p:sldId id="293" r:id="rId26"/>
    <p:sldId id="265" r:id="rId27"/>
    <p:sldId id="294" r:id="rId28"/>
    <p:sldId id="295" r:id="rId29"/>
    <p:sldId id="296" r:id="rId30"/>
    <p:sldId id="297" r:id="rId31"/>
    <p:sldId id="298" r:id="rId32"/>
    <p:sldId id="299" r:id="rId33"/>
    <p:sldId id="266" r:id="rId34"/>
    <p:sldId id="300" r:id="rId35"/>
    <p:sldId id="301" r:id="rId36"/>
    <p:sldId id="302" r:id="rId37"/>
    <p:sldId id="303" r:id="rId38"/>
    <p:sldId id="304" r:id="rId39"/>
    <p:sldId id="267" r:id="rId40"/>
    <p:sldId id="305" r:id="rId41"/>
    <p:sldId id="306" r:id="rId42"/>
    <p:sldId id="307" r:id="rId43"/>
    <p:sldId id="308" r:id="rId44"/>
    <p:sldId id="309" r:id="rId45"/>
    <p:sldId id="268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269" r:id="rId55"/>
    <p:sldId id="318" r:id="rId56"/>
    <p:sldId id="319" r:id="rId57"/>
    <p:sldId id="271" r:id="rId58"/>
    <p:sldId id="320" r:id="rId59"/>
    <p:sldId id="32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96" autoAdjust="0"/>
  </p:normalViewPr>
  <p:slideViewPr>
    <p:cSldViewPr snapToGrid="0">
      <p:cViewPr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B6DB-6BD6-400B-A22D-C2F1F4F9E8A0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4F4F8-942F-442A-93A4-EC2514211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38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If you are projecting on a Smartboard or Whiteboard, you can use the space to write down some of your students’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4F4F8-942F-442A-93A4-EC25142113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05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547DD-B8A5-C565-EAD4-D7913A679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D3CBB-C5E4-49BB-CA5F-B54F05771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14C39-11C6-65FD-8B25-E72BC241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923FC-3A5B-7BA8-899E-7AEE88FE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D0AAB-FDEC-0B86-0F57-07E6BBBA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8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B90E-3D29-1C2B-DDCB-84D5B08F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603A-9DBD-2074-3D14-AF31D9672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88D6C-40B3-4A22-2D5A-DF3364ED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6AACC-7056-C8F8-A27A-BC7752AE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C623C-7FA8-874A-CAF6-A22C328B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2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56DC-AE69-55FB-FF22-0766862A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657B0-62AD-DDB3-620F-70DAB5B53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07B64-9C58-1160-680C-7BDB7523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31F1F-FB6C-4F05-EE06-CAC862EE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34FF4-6027-3CB9-CAF9-B0E36AB1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7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F073-A11C-92AB-F4B1-CE8821A6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9388-A821-3364-4B5C-BD02EE318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30173-2FEE-9D6E-6B03-6F29B9B2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9A9EC-F9BD-EC8C-1CC1-823EE1CFE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A1E14-84B4-8371-FF18-06B9DE3D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4C876-EF02-7692-55CE-6490A3C5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1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E5370-584A-1BC9-BE5B-446503AF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7F070-8D99-24A2-85CE-6A04ACB06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CDD6E-EC7E-4136-8867-41CCE7C9C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613F1-3FF9-7A01-FAAC-7AACC0C2B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9C9BD-695C-1CA6-124B-DECCAC60A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A0687-4111-A3B9-D3C4-C4474E979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B9657-D958-E541-5502-6755B8C1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9F3024-AAAE-C552-CAC1-9C45ECC6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34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307C-B061-BF6D-FD40-A09AC6F5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7D817-AFCB-3EF4-1D4A-DEED1607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EAE76-2B95-0CCD-9F1E-0878A7676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2AB42-661C-3F24-0E52-CC927F23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0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3D6DF-68FF-BE67-F93A-CEECCCB0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4658F-4200-7489-BB7A-7D0908F4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A6677-6978-3CE9-E7F4-86E60786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6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BCFE-FAD9-9DAE-D986-8F8618B2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009A9-DE2C-AE35-04A9-A444EA3BE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B07BB-21CE-E21E-A861-F544F8FA8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F6348-BD4B-1B5C-3059-5386B7CF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5E75B-3A53-857B-B607-5A4ECC88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86E3-07D8-2129-1E51-1ECC47A0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9B1A-FAA4-6D7F-642E-D911F2D83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D2514-4ABA-41D6-4B37-0E33E390F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A25FD-E3E1-3C3E-5429-8B8527AC4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D26C7-8FBA-3B63-C357-C294C2FE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83756-C573-6EFB-C9C3-4981D7B4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58BF0-CC8E-25A2-A341-76ED7A29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2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859A-FF91-3EB4-A558-422BC021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87F6C-7FA8-9949-D359-05DF34217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8CA0B-1D12-5000-2990-DC80535B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6130-CA03-7605-3F10-D800715B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A27AD-1A9E-B2F0-CCA1-DCF5BB54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0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C6401-23F9-9C7A-D4D7-4816D4997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E24E8-B9AE-C43E-62E7-6729C3261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7A144-690B-4165-3072-55205D95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6BDB5-3A26-4C67-D572-CAF7DC25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18903-F903-B038-41E7-75321255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61C59-C565-7487-9E0F-C7A9BCD6A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63288-2A98-19CB-3A3A-9870B2516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8A084-8D0F-E2AF-C34F-AE1AD5645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844AD-4705-481B-952B-69BEA647963F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EB617-5143-A2C6-B83D-F964E02FE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6C95F-61C0-2A6C-9906-1D1B01D8D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92B91-80F1-42B6-BD22-B2418A054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65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466A60-0F72-FA1E-AF77-01F210059036}"/>
              </a:ext>
            </a:extLst>
          </p:cNvPr>
          <p:cNvSpPr/>
          <p:nvPr/>
        </p:nvSpPr>
        <p:spPr>
          <a:xfrm>
            <a:off x="490935" y="65514"/>
            <a:ext cx="11527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rgbClr val="7030A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7030A0"/>
                  </a:outerShdw>
                </a:effectLst>
                <a:latin typeface="Cooper Black" panose="0208090404030B020404" pitchFamily="18" charset="0"/>
                <a:ea typeface="AshleysFont" panose="02000603000000000000" pitchFamily="2" charset="0"/>
              </a:rPr>
              <a:t>AP Computer Science Principles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CD0169-49EA-15CC-26C9-85F253F9763D}"/>
              </a:ext>
            </a:extLst>
          </p:cNvPr>
          <p:cNvSpPr/>
          <p:nvPr/>
        </p:nvSpPr>
        <p:spPr>
          <a:xfrm>
            <a:off x="303246" y="1772616"/>
            <a:ext cx="11585509" cy="4404249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Today’s Objectives:</a:t>
            </a:r>
          </a:p>
          <a:p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will be able to define computer science and its scope.</a:t>
            </a:r>
          </a:p>
          <a:p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will be able to explain the positive impacts of computer science in various domains.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4E7D11-4A35-C19A-9C19-C33FFB39C41D}"/>
              </a:ext>
            </a:extLst>
          </p:cNvPr>
          <p:cNvSpPr/>
          <p:nvPr/>
        </p:nvSpPr>
        <p:spPr>
          <a:xfrm>
            <a:off x="33455" y="917382"/>
            <a:ext cx="12125114" cy="7386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200" b="1" cap="none" spc="0" dirty="0">
                <a:ln w="6600">
                  <a:solidFill>
                    <a:srgbClr val="7030A0"/>
                  </a:solidFill>
                  <a:prstDash val="solid"/>
                </a:ln>
                <a:solidFill>
                  <a:srgbClr val="CC99FF"/>
                </a:solidFill>
                <a:effectLst>
                  <a:outerShdw dist="38100" dir="2700000" algn="tl" rotWithShape="0">
                    <a:srgbClr val="7030A0"/>
                  </a:outerShdw>
                </a:effectLst>
                <a:latin typeface="Cooper Black" panose="0208090404030B020404" pitchFamily="18" charset="0"/>
                <a:ea typeface="AshleysFont" panose="02000603000000000000" pitchFamily="2" charset="0"/>
              </a:rPr>
              <a:t>Week 2a: What Is Computer Science?</a:t>
            </a:r>
            <a:r>
              <a:rPr lang="en-US" sz="4200" b="1" dirty="0">
                <a:ln w="6600">
                  <a:solidFill>
                    <a:srgbClr val="7030A0"/>
                  </a:solidFill>
                  <a:prstDash val="solid"/>
                </a:ln>
                <a:solidFill>
                  <a:srgbClr val="CC99FF"/>
                </a:solidFill>
                <a:effectLst>
                  <a:outerShdw dist="38100" dir="2700000" algn="tl" rotWithShape="0">
                    <a:srgbClr val="7030A0"/>
                  </a:outerShdw>
                </a:effectLst>
                <a:latin typeface="Cooper Black" panose="0208090404030B020404" pitchFamily="18" charset="0"/>
                <a:ea typeface="AshleysFont" panose="02000603000000000000" pitchFamily="2" charset="0"/>
              </a:rPr>
              <a:t/>
            </a:r>
            <a:endParaRPr lang="en-US" sz="4200" b="1" cap="none" spc="0" dirty="0">
              <a:ln w="6600">
                <a:solidFill>
                  <a:srgbClr val="7030A0"/>
                </a:solidFill>
                <a:prstDash val="solid"/>
              </a:ln>
              <a:solidFill>
                <a:srgbClr val="CC99FF"/>
              </a:solidFill>
              <a:effectLst>
                <a:outerShdw dist="38100" dir="2700000" algn="tl" rotWithShape="0">
                  <a:srgbClr val="7030A0"/>
                </a:outerShdw>
              </a:effectLst>
              <a:latin typeface="Cooper Black" panose="0208090404030B020404" pitchFamily="18" charset="0"/>
              <a:ea typeface="AshleysFon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1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62E70E-97CD-207E-E320-B23202617C7B}"/>
              </a:ext>
            </a:extLst>
          </p:cNvPr>
          <p:cNvSpPr txBox="1"/>
          <p:nvPr/>
        </p:nvSpPr>
        <p:spPr>
          <a:xfrm>
            <a:off x="230933" y="202555"/>
            <a:ext cx="115816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Welcome to Computer Science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8631D-481C-4F4A-83E5-90B0995C4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51" y="421704"/>
            <a:ext cx="3415004" cy="3334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2FEF0B-377C-9810-7344-990AE5209C37}"/>
              </a:ext>
            </a:extLst>
          </p:cNvPr>
          <p:cNvSpPr txBox="1"/>
          <p:nvPr/>
        </p:nvSpPr>
        <p:spPr>
          <a:xfrm>
            <a:off x="230933" y="1230382"/>
            <a:ext cx="7364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does a computer scientist do?</a:t>
            </a:r>
          </a:p>
        </p:txBody>
      </p:sp>
    </p:spTree>
    <p:extLst>
      <p:ext uri="{BB962C8B-B14F-4D97-AF65-F5344CB8AC3E}">
        <p14:creationId xmlns:p14="http://schemas.microsoft.com/office/powerpoint/2010/main" val="287881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AACB56-13E1-4FC1-5972-34B37F8EDE69}"/>
              </a:ext>
            </a:extLst>
          </p:cNvPr>
          <p:cNvSpPr txBox="1"/>
          <p:nvPr/>
        </p:nvSpPr>
        <p:spPr>
          <a:xfrm>
            <a:off x="505797" y="649852"/>
            <a:ext cx="11180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“Official” definition of computer science: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40F18-F05A-FBCF-03CE-8ED7BE4A7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127" y="1371600"/>
            <a:ext cx="2289361" cy="22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1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AACB56-13E1-4FC1-5972-34B37F8EDE69}"/>
              </a:ext>
            </a:extLst>
          </p:cNvPr>
          <p:cNvSpPr txBox="1"/>
          <p:nvPr/>
        </p:nvSpPr>
        <p:spPr>
          <a:xfrm>
            <a:off x="505797" y="649852"/>
            <a:ext cx="111804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“Official” definition of computer science: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the study of algorithms and computational systems, including their design, development, and applications.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40F18-F05A-FBCF-03CE-8ED7BE4A7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127" y="1371600"/>
            <a:ext cx="2289361" cy="22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387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AACB56-13E1-4FC1-5972-34B37F8EDE69}"/>
              </a:ext>
            </a:extLst>
          </p:cNvPr>
          <p:cNvSpPr txBox="1"/>
          <p:nvPr/>
        </p:nvSpPr>
        <p:spPr>
          <a:xfrm>
            <a:off x="505797" y="649852"/>
            <a:ext cx="1118040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“Official” definition of computer science: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the study of algorithms and computational systems, including their design, development, and applications.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 what does this mean? First, let’s look at some common misconceptions when it comes to the computer science field: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40F18-F05A-FBCF-03CE-8ED7BE4A7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127" y="1371600"/>
            <a:ext cx="2289361" cy="22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9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0A30A-9144-F99F-AE61-80457E35D440}"/>
              </a:ext>
            </a:extLst>
          </p:cNvPr>
          <p:cNvSpPr txBox="1"/>
          <p:nvPr/>
        </p:nvSpPr>
        <p:spPr>
          <a:xfrm>
            <a:off x="548172" y="541446"/>
            <a:ext cx="7653435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1: Computer science is the study of computers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5BF6EC-0A2B-1E68-5498-2F8DE42D8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004" y="1843015"/>
            <a:ext cx="3372093" cy="317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3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0A30A-9144-F99F-AE61-80457E35D440}"/>
              </a:ext>
            </a:extLst>
          </p:cNvPr>
          <p:cNvSpPr txBox="1"/>
          <p:nvPr/>
        </p:nvSpPr>
        <p:spPr>
          <a:xfrm>
            <a:off x="548172" y="541446"/>
            <a:ext cx="7653435" cy="3226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1: Computer science is the study of computers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 more about computers than chemistry is about beakers and test tubes.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5BF6EC-0A2B-1E68-5498-2F8DE42D8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004" y="1843015"/>
            <a:ext cx="3372093" cy="317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0A30A-9144-F99F-AE61-80457E35D440}"/>
              </a:ext>
            </a:extLst>
          </p:cNvPr>
          <p:cNvSpPr txBox="1"/>
          <p:nvPr/>
        </p:nvSpPr>
        <p:spPr>
          <a:xfrm>
            <a:off x="548172" y="541446"/>
            <a:ext cx="7653435" cy="450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1: Computer science is the study of computers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 more about computers than chemistry is about beakers and test tubes.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Science is not about the tools that are used.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5BF6EC-0A2B-1E68-5498-2F8DE42D8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004" y="1843015"/>
            <a:ext cx="3372093" cy="317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6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0A30A-9144-F99F-AE61-80457E35D440}"/>
              </a:ext>
            </a:extLst>
          </p:cNvPr>
          <p:cNvSpPr txBox="1"/>
          <p:nvPr/>
        </p:nvSpPr>
        <p:spPr>
          <a:xfrm>
            <a:off x="548172" y="541446"/>
            <a:ext cx="7653435" cy="5775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1: Computer science is the study of computers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 more about computers than chemistry is about beakers and test tubes.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Science is not about the tools that are used.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about how we use them and what we find out when we do.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5BF6EC-0A2B-1E68-5498-2F8DE42D8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004" y="1843015"/>
            <a:ext cx="3372093" cy="317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4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BC0F4-00C4-A064-9924-C7D62EA7E882}"/>
              </a:ext>
            </a:extLst>
          </p:cNvPr>
          <p:cNvSpPr txBox="1"/>
          <p:nvPr/>
        </p:nvSpPr>
        <p:spPr>
          <a:xfrm>
            <a:off x="3909527" y="541446"/>
            <a:ext cx="7802724" cy="1952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2: Computer science is the study of how to write computer programs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9FA951-7E77-E6A8-CF49-FCE3AFC02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74" y="1821204"/>
            <a:ext cx="3373413" cy="321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59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BC0F4-00C4-A064-9924-C7D62EA7E882}"/>
              </a:ext>
            </a:extLst>
          </p:cNvPr>
          <p:cNvSpPr txBox="1"/>
          <p:nvPr/>
        </p:nvSpPr>
        <p:spPr>
          <a:xfrm>
            <a:off x="3909527" y="541446"/>
            <a:ext cx="7802724" cy="3226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2: Computer science is the study of how to write computer programs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is extremely important to the discipline but programming is a tool.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9FA951-7E77-E6A8-CF49-FCE3AFC02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74" y="1821204"/>
            <a:ext cx="3373413" cy="321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39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BC0F4-00C4-A064-9924-C7D62EA7E882}"/>
              </a:ext>
            </a:extLst>
          </p:cNvPr>
          <p:cNvSpPr txBox="1"/>
          <p:nvPr/>
        </p:nvSpPr>
        <p:spPr>
          <a:xfrm>
            <a:off x="3909527" y="541446"/>
            <a:ext cx="7802724" cy="5775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2: Computer science is the study of how to write computer programs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is extremely important to the discipline but programming is a tool.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construction of a high-quality program is important but what the program does and the services it provides are just as important.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9FA951-7E77-E6A8-CF49-FCE3AFC02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74" y="1821204"/>
            <a:ext cx="3373413" cy="321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9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B48E4-34E0-213B-D0C0-3761F23658AF}"/>
              </a:ext>
            </a:extLst>
          </p:cNvPr>
          <p:cNvSpPr txBox="1"/>
          <p:nvPr/>
        </p:nvSpPr>
        <p:spPr>
          <a:xfrm>
            <a:off x="473529" y="859995"/>
            <a:ext cx="7252218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3: Computer science is the application of computer software.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7F93A-E108-CEF8-F464-B3CDEC7ED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4" y="1760853"/>
            <a:ext cx="3880757" cy="333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79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B48E4-34E0-213B-D0C0-3761F23658AF}"/>
              </a:ext>
            </a:extLst>
          </p:cNvPr>
          <p:cNvSpPr txBox="1"/>
          <p:nvPr/>
        </p:nvSpPr>
        <p:spPr>
          <a:xfrm>
            <a:off x="473529" y="859995"/>
            <a:ext cx="7252218" cy="513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Misconception 3: Computer science is the application of computer software.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wide range of people use computer software but it is the computer scientist who is responsible for specifying, designing, building, and testing software.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7F93A-E108-CEF8-F464-B3CDEC7ED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4" y="1760853"/>
            <a:ext cx="3880757" cy="333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41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59796-1CE7-FC34-D805-253B0B5F8A27}"/>
              </a:ext>
            </a:extLst>
          </p:cNvPr>
          <p:cNvSpPr txBox="1"/>
          <p:nvPr/>
        </p:nvSpPr>
        <p:spPr>
          <a:xfrm>
            <a:off x="230933" y="315388"/>
            <a:ext cx="11460324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Shapes Our World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36489-638B-9C05-ABB9-9BBD0EFD9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668" y="1446769"/>
            <a:ext cx="3877468" cy="396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8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59796-1CE7-FC34-D805-253B0B5F8A27}"/>
              </a:ext>
            </a:extLst>
          </p:cNvPr>
          <p:cNvSpPr txBox="1"/>
          <p:nvPr/>
        </p:nvSpPr>
        <p:spPr>
          <a:xfrm>
            <a:off x="230933" y="315388"/>
            <a:ext cx="11460324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Shapes Our World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43C76-5EF1-4FB5-1D16-DAB14CDB6B05}"/>
              </a:ext>
            </a:extLst>
          </p:cNvPr>
          <p:cNvSpPr txBox="1"/>
          <p:nvPr/>
        </p:nvSpPr>
        <p:spPr>
          <a:xfrm>
            <a:off x="230933" y="1172869"/>
            <a:ext cx="7448161" cy="104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devices and systems have infiltrated our world, for better or worse.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36489-638B-9C05-ABB9-9BBD0EFD9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668" y="1446769"/>
            <a:ext cx="3877468" cy="396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75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59796-1CE7-FC34-D805-253B0B5F8A27}"/>
              </a:ext>
            </a:extLst>
          </p:cNvPr>
          <p:cNvSpPr txBox="1"/>
          <p:nvPr/>
        </p:nvSpPr>
        <p:spPr>
          <a:xfrm>
            <a:off x="230933" y="315388"/>
            <a:ext cx="11460324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Shapes Our World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43C76-5EF1-4FB5-1D16-DAB14CDB6B05}"/>
              </a:ext>
            </a:extLst>
          </p:cNvPr>
          <p:cNvSpPr txBox="1"/>
          <p:nvPr/>
        </p:nvSpPr>
        <p:spPr>
          <a:xfrm>
            <a:off x="230933" y="1172869"/>
            <a:ext cx="7448161" cy="253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devices and systems have infiltrated our world, for better or worse.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Involving computers in our everyday lives has improved many things, and in this course, we will discuss the good and the bad.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36489-638B-9C05-ABB9-9BBD0EFD9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668" y="1446769"/>
            <a:ext cx="3877468" cy="396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4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59796-1CE7-FC34-D805-253B0B5F8A27}"/>
              </a:ext>
            </a:extLst>
          </p:cNvPr>
          <p:cNvSpPr txBox="1"/>
          <p:nvPr/>
        </p:nvSpPr>
        <p:spPr>
          <a:xfrm>
            <a:off x="230933" y="315388"/>
            <a:ext cx="11460324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Shapes Our World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43C76-5EF1-4FB5-1D16-DAB14CDB6B05}"/>
              </a:ext>
            </a:extLst>
          </p:cNvPr>
          <p:cNvSpPr txBox="1"/>
          <p:nvPr/>
        </p:nvSpPr>
        <p:spPr>
          <a:xfrm>
            <a:off x="230933" y="1172869"/>
            <a:ext cx="7448161" cy="451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devices and systems have infiltrated our world, for better or worse.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Involving computers in our everyday lives has improved many things, and in this course, we will discuss the good and the bad.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Let’s look at some positive impacts computer science has had on four pillars of our society: healthcare, entertainment, transportation, and communication.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36489-638B-9C05-ABB9-9BBD0EFD9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668" y="1446769"/>
            <a:ext cx="3877468" cy="396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91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AAF46C-7B90-21F4-8785-241453EC6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289551"/>
              </p:ext>
            </p:extLst>
          </p:nvPr>
        </p:nvGraphicFramePr>
        <p:xfrm>
          <a:off x="328191" y="589024"/>
          <a:ext cx="11568340" cy="5895751"/>
        </p:xfrm>
        <a:graphic>
          <a:graphicData uri="http://schemas.openxmlformats.org/drawingml/2006/table">
            <a:tbl>
              <a:tblPr firstRow="1" firstCol="1" bandRow="1"/>
              <a:tblGrid>
                <a:gridCol w="5784170">
                  <a:extLst>
                    <a:ext uri="{9D8B030D-6E8A-4147-A177-3AD203B41FA5}">
                      <a16:colId xmlns:a16="http://schemas.microsoft.com/office/drawing/2014/main" val="507447141"/>
                    </a:ext>
                  </a:extLst>
                </a:gridCol>
                <a:gridCol w="5784170">
                  <a:extLst>
                    <a:ext uri="{9D8B030D-6E8A-4147-A177-3AD203B41FA5}">
                      <a16:colId xmlns:a16="http://schemas.microsoft.com/office/drawing/2014/main" val="3479931575"/>
                    </a:ext>
                  </a:extLst>
                </a:gridCol>
              </a:tblGrid>
              <a:tr h="10061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Healthcare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Entertainment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49302"/>
                  </a:ext>
                </a:extLst>
              </a:tr>
              <a:tr h="488961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7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977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AAF46C-7B90-21F4-8785-241453EC6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403293"/>
              </p:ext>
            </p:extLst>
          </p:nvPr>
        </p:nvGraphicFramePr>
        <p:xfrm>
          <a:off x="328191" y="589024"/>
          <a:ext cx="11568340" cy="5895751"/>
        </p:xfrm>
        <a:graphic>
          <a:graphicData uri="http://schemas.openxmlformats.org/drawingml/2006/table">
            <a:tbl>
              <a:tblPr firstRow="1" firstCol="1" bandRow="1"/>
              <a:tblGrid>
                <a:gridCol w="5784170">
                  <a:extLst>
                    <a:ext uri="{9D8B030D-6E8A-4147-A177-3AD203B41FA5}">
                      <a16:colId xmlns:a16="http://schemas.microsoft.com/office/drawing/2014/main" val="507447141"/>
                    </a:ext>
                  </a:extLst>
                </a:gridCol>
                <a:gridCol w="5784170">
                  <a:extLst>
                    <a:ext uri="{9D8B030D-6E8A-4147-A177-3AD203B41FA5}">
                      <a16:colId xmlns:a16="http://schemas.microsoft.com/office/drawing/2014/main" val="3479931575"/>
                    </a:ext>
                  </a:extLst>
                </a:gridCol>
              </a:tblGrid>
              <a:tr h="10061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Healthcare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Entertainment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49302"/>
                  </a:ext>
                </a:extLst>
              </a:tr>
              <a:tr h="488961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modeling aids in drug discovery.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7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304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AAF46C-7B90-21F4-8785-241453EC6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05372"/>
              </p:ext>
            </p:extLst>
          </p:nvPr>
        </p:nvGraphicFramePr>
        <p:xfrm>
          <a:off x="328191" y="589024"/>
          <a:ext cx="11568340" cy="5895751"/>
        </p:xfrm>
        <a:graphic>
          <a:graphicData uri="http://schemas.openxmlformats.org/drawingml/2006/table">
            <a:tbl>
              <a:tblPr firstRow="1" firstCol="1" bandRow="1"/>
              <a:tblGrid>
                <a:gridCol w="5784170">
                  <a:extLst>
                    <a:ext uri="{9D8B030D-6E8A-4147-A177-3AD203B41FA5}">
                      <a16:colId xmlns:a16="http://schemas.microsoft.com/office/drawing/2014/main" val="507447141"/>
                    </a:ext>
                  </a:extLst>
                </a:gridCol>
                <a:gridCol w="5784170">
                  <a:extLst>
                    <a:ext uri="{9D8B030D-6E8A-4147-A177-3AD203B41FA5}">
                      <a16:colId xmlns:a16="http://schemas.microsoft.com/office/drawing/2014/main" val="3479931575"/>
                    </a:ext>
                  </a:extLst>
                </a:gridCol>
              </a:tblGrid>
              <a:tr h="10061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Healthcare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Entertainment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49302"/>
                  </a:ext>
                </a:extLst>
              </a:tr>
              <a:tr h="488961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modeling aids in drug discovery.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algorithms help diagnose diseases more accurately.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7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602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AAF46C-7B90-21F4-8785-241453EC6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321464"/>
              </p:ext>
            </p:extLst>
          </p:nvPr>
        </p:nvGraphicFramePr>
        <p:xfrm>
          <a:off x="328191" y="589024"/>
          <a:ext cx="11568340" cy="5895751"/>
        </p:xfrm>
        <a:graphic>
          <a:graphicData uri="http://schemas.openxmlformats.org/drawingml/2006/table">
            <a:tbl>
              <a:tblPr firstRow="1" firstCol="1" bandRow="1"/>
              <a:tblGrid>
                <a:gridCol w="5784170">
                  <a:extLst>
                    <a:ext uri="{9D8B030D-6E8A-4147-A177-3AD203B41FA5}">
                      <a16:colId xmlns:a16="http://schemas.microsoft.com/office/drawing/2014/main" val="507447141"/>
                    </a:ext>
                  </a:extLst>
                </a:gridCol>
                <a:gridCol w="5784170">
                  <a:extLst>
                    <a:ext uri="{9D8B030D-6E8A-4147-A177-3AD203B41FA5}">
                      <a16:colId xmlns:a16="http://schemas.microsoft.com/office/drawing/2014/main" val="3479931575"/>
                    </a:ext>
                  </a:extLst>
                </a:gridCol>
              </a:tblGrid>
              <a:tr h="10061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Healthcare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Entertainment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49302"/>
                  </a:ext>
                </a:extLst>
              </a:tr>
              <a:tr h="488961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modeling aids in drug discovery.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algorithms help diagnose diseases more accurately.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Electronic health records have led to better care coordination.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7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48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AAF46C-7B90-21F4-8785-241453EC6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931012"/>
              </p:ext>
            </p:extLst>
          </p:nvPr>
        </p:nvGraphicFramePr>
        <p:xfrm>
          <a:off x="328191" y="589024"/>
          <a:ext cx="11568340" cy="5895751"/>
        </p:xfrm>
        <a:graphic>
          <a:graphicData uri="http://schemas.openxmlformats.org/drawingml/2006/table">
            <a:tbl>
              <a:tblPr firstRow="1" firstCol="1" bandRow="1"/>
              <a:tblGrid>
                <a:gridCol w="5784170">
                  <a:extLst>
                    <a:ext uri="{9D8B030D-6E8A-4147-A177-3AD203B41FA5}">
                      <a16:colId xmlns:a16="http://schemas.microsoft.com/office/drawing/2014/main" val="507447141"/>
                    </a:ext>
                  </a:extLst>
                </a:gridCol>
                <a:gridCol w="5784170">
                  <a:extLst>
                    <a:ext uri="{9D8B030D-6E8A-4147-A177-3AD203B41FA5}">
                      <a16:colId xmlns:a16="http://schemas.microsoft.com/office/drawing/2014/main" val="3479931575"/>
                    </a:ext>
                  </a:extLst>
                </a:gridCol>
              </a:tblGrid>
              <a:tr h="10061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Healthcare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Entertainment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49302"/>
                  </a:ext>
                </a:extLst>
              </a:tr>
              <a:tr h="488961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modeling aids in drug discovery.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algorithms help diagnose diseases more accurately.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Electronic health records have led to better care coordination.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Computer graphics and animation are at the core of most entertainment experiences.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7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982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AAF46C-7B90-21F4-8785-241453EC6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060779"/>
              </p:ext>
            </p:extLst>
          </p:nvPr>
        </p:nvGraphicFramePr>
        <p:xfrm>
          <a:off x="328191" y="589024"/>
          <a:ext cx="11568340" cy="5895751"/>
        </p:xfrm>
        <a:graphic>
          <a:graphicData uri="http://schemas.openxmlformats.org/drawingml/2006/table">
            <a:tbl>
              <a:tblPr firstRow="1" firstCol="1" bandRow="1"/>
              <a:tblGrid>
                <a:gridCol w="5784170">
                  <a:extLst>
                    <a:ext uri="{9D8B030D-6E8A-4147-A177-3AD203B41FA5}">
                      <a16:colId xmlns:a16="http://schemas.microsoft.com/office/drawing/2014/main" val="507447141"/>
                    </a:ext>
                  </a:extLst>
                </a:gridCol>
                <a:gridCol w="5784170">
                  <a:extLst>
                    <a:ext uri="{9D8B030D-6E8A-4147-A177-3AD203B41FA5}">
                      <a16:colId xmlns:a16="http://schemas.microsoft.com/office/drawing/2014/main" val="3479931575"/>
                    </a:ext>
                  </a:extLst>
                </a:gridCol>
              </a:tblGrid>
              <a:tr h="10061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Healthcare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Entertainment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49302"/>
                  </a:ext>
                </a:extLst>
              </a:tr>
              <a:tr h="488961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modeling aids in drug discovery.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algorithms help diagnose diseases more accurately.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Electronic health records have led to better care coordination.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Computer graphics and animation are at the core of most entertainment experiences.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 media platforms facilitate global connectivity.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7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677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AAF46C-7B90-21F4-8785-241453EC6C9A}"/>
              </a:ext>
            </a:extLst>
          </p:cNvPr>
          <p:cNvGraphicFramePr>
            <a:graphicFrameLocks noGrp="1"/>
          </p:cNvGraphicFramePr>
          <p:nvPr/>
        </p:nvGraphicFramePr>
        <p:xfrm>
          <a:off x="328191" y="589024"/>
          <a:ext cx="11568340" cy="5895751"/>
        </p:xfrm>
        <a:graphic>
          <a:graphicData uri="http://schemas.openxmlformats.org/drawingml/2006/table">
            <a:tbl>
              <a:tblPr firstRow="1" firstCol="1" bandRow="1"/>
              <a:tblGrid>
                <a:gridCol w="5784170">
                  <a:extLst>
                    <a:ext uri="{9D8B030D-6E8A-4147-A177-3AD203B41FA5}">
                      <a16:colId xmlns:a16="http://schemas.microsoft.com/office/drawing/2014/main" val="507447141"/>
                    </a:ext>
                  </a:extLst>
                </a:gridCol>
                <a:gridCol w="5784170">
                  <a:extLst>
                    <a:ext uri="{9D8B030D-6E8A-4147-A177-3AD203B41FA5}">
                      <a16:colId xmlns:a16="http://schemas.microsoft.com/office/drawing/2014/main" val="3479931575"/>
                    </a:ext>
                  </a:extLst>
                </a:gridCol>
              </a:tblGrid>
              <a:tr h="10061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Healthcare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Entertainment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49302"/>
                  </a:ext>
                </a:extLst>
              </a:tr>
              <a:tr h="488961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modeling aids in drug discovery.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algorithms help diagnose diseases more accurately.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Electronic health records have led to better care coordination.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Computer graphics and animation are at the core of most entertainment experiences.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 media platforms facilitate global connectivity.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Streaming platforms use machine learning to provide personalized content.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7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5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B0B4B-773B-17F3-2725-311F246E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49622"/>
              </p:ext>
            </p:extLst>
          </p:nvPr>
        </p:nvGraphicFramePr>
        <p:xfrm>
          <a:off x="328190" y="467304"/>
          <a:ext cx="11437712" cy="5952157"/>
        </p:xfrm>
        <a:graphic>
          <a:graphicData uri="http://schemas.openxmlformats.org/drawingml/2006/table">
            <a:tbl>
              <a:tblPr firstRow="1" firstCol="1" bandRow="1"/>
              <a:tblGrid>
                <a:gridCol w="5718856">
                  <a:extLst>
                    <a:ext uri="{9D8B030D-6E8A-4147-A177-3AD203B41FA5}">
                      <a16:colId xmlns:a16="http://schemas.microsoft.com/office/drawing/2014/main" val="4090348063"/>
                    </a:ext>
                  </a:extLst>
                </a:gridCol>
                <a:gridCol w="5718856">
                  <a:extLst>
                    <a:ext uri="{9D8B030D-6E8A-4147-A177-3AD203B41FA5}">
                      <a16:colId xmlns:a16="http://schemas.microsoft.com/office/drawing/2014/main" val="3831349061"/>
                    </a:ext>
                  </a:extLst>
                </a:gridCol>
              </a:tblGrid>
              <a:tr h="10935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01867"/>
                  </a:ext>
                </a:extLst>
              </a:tr>
              <a:tr h="485858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0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917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B0B4B-773B-17F3-2725-311F246E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239829"/>
              </p:ext>
            </p:extLst>
          </p:nvPr>
        </p:nvGraphicFramePr>
        <p:xfrm>
          <a:off x="328190" y="467304"/>
          <a:ext cx="11437712" cy="5952157"/>
        </p:xfrm>
        <a:graphic>
          <a:graphicData uri="http://schemas.openxmlformats.org/drawingml/2006/table">
            <a:tbl>
              <a:tblPr firstRow="1" firstCol="1" bandRow="1"/>
              <a:tblGrid>
                <a:gridCol w="5718856">
                  <a:extLst>
                    <a:ext uri="{9D8B030D-6E8A-4147-A177-3AD203B41FA5}">
                      <a16:colId xmlns:a16="http://schemas.microsoft.com/office/drawing/2014/main" val="4090348063"/>
                    </a:ext>
                  </a:extLst>
                </a:gridCol>
                <a:gridCol w="5718856">
                  <a:extLst>
                    <a:ext uri="{9D8B030D-6E8A-4147-A177-3AD203B41FA5}">
                      <a16:colId xmlns:a16="http://schemas.microsoft.com/office/drawing/2014/main" val="3831349061"/>
                    </a:ext>
                  </a:extLst>
                </a:gridCol>
              </a:tblGrid>
              <a:tr h="10935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01867"/>
                  </a:ext>
                </a:extLst>
              </a:tr>
              <a:tr h="485858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Mapping apps use algorithms to provide accurate route information.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0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003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B0B4B-773B-17F3-2725-311F246E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166124"/>
              </p:ext>
            </p:extLst>
          </p:nvPr>
        </p:nvGraphicFramePr>
        <p:xfrm>
          <a:off x="328190" y="467304"/>
          <a:ext cx="11437712" cy="5952157"/>
        </p:xfrm>
        <a:graphic>
          <a:graphicData uri="http://schemas.openxmlformats.org/drawingml/2006/table">
            <a:tbl>
              <a:tblPr firstRow="1" firstCol="1" bandRow="1"/>
              <a:tblGrid>
                <a:gridCol w="5718856">
                  <a:extLst>
                    <a:ext uri="{9D8B030D-6E8A-4147-A177-3AD203B41FA5}">
                      <a16:colId xmlns:a16="http://schemas.microsoft.com/office/drawing/2014/main" val="4090348063"/>
                    </a:ext>
                  </a:extLst>
                </a:gridCol>
                <a:gridCol w="5718856">
                  <a:extLst>
                    <a:ext uri="{9D8B030D-6E8A-4147-A177-3AD203B41FA5}">
                      <a16:colId xmlns:a16="http://schemas.microsoft.com/office/drawing/2014/main" val="3831349061"/>
                    </a:ext>
                  </a:extLst>
                </a:gridCol>
              </a:tblGrid>
              <a:tr h="10935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01867"/>
                  </a:ext>
                </a:extLst>
              </a:tr>
              <a:tr h="485858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Mapping apps use algorithms to provide accurate route information.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Traffic management systems help optimize traffic flow.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0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81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B0B4B-773B-17F3-2725-311F246E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571849"/>
              </p:ext>
            </p:extLst>
          </p:nvPr>
        </p:nvGraphicFramePr>
        <p:xfrm>
          <a:off x="328190" y="467304"/>
          <a:ext cx="11437712" cy="5952157"/>
        </p:xfrm>
        <a:graphic>
          <a:graphicData uri="http://schemas.openxmlformats.org/drawingml/2006/table">
            <a:tbl>
              <a:tblPr firstRow="1" firstCol="1" bandRow="1"/>
              <a:tblGrid>
                <a:gridCol w="5718856">
                  <a:extLst>
                    <a:ext uri="{9D8B030D-6E8A-4147-A177-3AD203B41FA5}">
                      <a16:colId xmlns:a16="http://schemas.microsoft.com/office/drawing/2014/main" val="4090348063"/>
                    </a:ext>
                  </a:extLst>
                </a:gridCol>
                <a:gridCol w="5718856">
                  <a:extLst>
                    <a:ext uri="{9D8B030D-6E8A-4147-A177-3AD203B41FA5}">
                      <a16:colId xmlns:a16="http://schemas.microsoft.com/office/drawing/2014/main" val="3831349061"/>
                    </a:ext>
                  </a:extLst>
                </a:gridCol>
              </a:tblGrid>
              <a:tr h="10935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01867"/>
                  </a:ext>
                </a:extLst>
              </a:tr>
              <a:tr h="485858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Mapping apps use algorithms to provide accurate route information.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Traffic management systems help optimize traffic flow.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Autonomous vehicles are being developed to enable safer and more efficient transportation.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0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87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B0B4B-773B-17F3-2725-311F246E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442278"/>
              </p:ext>
            </p:extLst>
          </p:nvPr>
        </p:nvGraphicFramePr>
        <p:xfrm>
          <a:off x="328190" y="467304"/>
          <a:ext cx="11437712" cy="5952157"/>
        </p:xfrm>
        <a:graphic>
          <a:graphicData uri="http://schemas.openxmlformats.org/drawingml/2006/table">
            <a:tbl>
              <a:tblPr firstRow="1" firstCol="1" bandRow="1"/>
              <a:tblGrid>
                <a:gridCol w="5718856">
                  <a:extLst>
                    <a:ext uri="{9D8B030D-6E8A-4147-A177-3AD203B41FA5}">
                      <a16:colId xmlns:a16="http://schemas.microsoft.com/office/drawing/2014/main" val="4090348063"/>
                    </a:ext>
                  </a:extLst>
                </a:gridCol>
                <a:gridCol w="5718856">
                  <a:extLst>
                    <a:ext uri="{9D8B030D-6E8A-4147-A177-3AD203B41FA5}">
                      <a16:colId xmlns:a16="http://schemas.microsoft.com/office/drawing/2014/main" val="3831349061"/>
                    </a:ext>
                  </a:extLst>
                </a:gridCol>
              </a:tblGrid>
              <a:tr h="10935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01867"/>
                  </a:ext>
                </a:extLst>
              </a:tr>
              <a:tr h="485858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Mapping apps use algorithms to provide accurate route information.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Traffic management systems help optimize traffic flow.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Autonomous vehicles are being developed to enable safer and more efficient transportation.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Internet revolutionized global communication.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0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230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B0B4B-773B-17F3-2725-311F246E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121272"/>
              </p:ext>
            </p:extLst>
          </p:nvPr>
        </p:nvGraphicFramePr>
        <p:xfrm>
          <a:off x="328190" y="467304"/>
          <a:ext cx="11437712" cy="5952157"/>
        </p:xfrm>
        <a:graphic>
          <a:graphicData uri="http://schemas.openxmlformats.org/drawingml/2006/table">
            <a:tbl>
              <a:tblPr firstRow="1" firstCol="1" bandRow="1"/>
              <a:tblGrid>
                <a:gridCol w="5718856">
                  <a:extLst>
                    <a:ext uri="{9D8B030D-6E8A-4147-A177-3AD203B41FA5}">
                      <a16:colId xmlns:a16="http://schemas.microsoft.com/office/drawing/2014/main" val="4090348063"/>
                    </a:ext>
                  </a:extLst>
                </a:gridCol>
                <a:gridCol w="5718856">
                  <a:extLst>
                    <a:ext uri="{9D8B030D-6E8A-4147-A177-3AD203B41FA5}">
                      <a16:colId xmlns:a16="http://schemas.microsoft.com/office/drawing/2014/main" val="3831349061"/>
                    </a:ext>
                  </a:extLst>
                </a:gridCol>
              </a:tblGrid>
              <a:tr h="10935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01867"/>
                  </a:ext>
                </a:extLst>
              </a:tr>
              <a:tr h="485858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Mapping apps use algorithms to provide accurate route information.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Traffic management systems help optimize traffic flow.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Autonomous vehicles are being developed to enable safer and more efficient transportation.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Internet revolutionized global communication.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Encryption and cybersecurity technologies have allowed for secure e-commerce experiences.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0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560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B0B4B-773B-17F3-2725-311F246EDF00}"/>
              </a:ext>
            </a:extLst>
          </p:cNvPr>
          <p:cNvGraphicFramePr>
            <a:graphicFrameLocks noGrp="1"/>
          </p:cNvGraphicFramePr>
          <p:nvPr/>
        </p:nvGraphicFramePr>
        <p:xfrm>
          <a:off x="328190" y="467304"/>
          <a:ext cx="11437712" cy="5952157"/>
        </p:xfrm>
        <a:graphic>
          <a:graphicData uri="http://schemas.openxmlformats.org/drawingml/2006/table">
            <a:tbl>
              <a:tblPr firstRow="1" firstCol="1" bandRow="1"/>
              <a:tblGrid>
                <a:gridCol w="5718856">
                  <a:extLst>
                    <a:ext uri="{9D8B030D-6E8A-4147-A177-3AD203B41FA5}">
                      <a16:colId xmlns:a16="http://schemas.microsoft.com/office/drawing/2014/main" val="4090348063"/>
                    </a:ext>
                  </a:extLst>
                </a:gridCol>
                <a:gridCol w="5718856">
                  <a:extLst>
                    <a:ext uri="{9D8B030D-6E8A-4147-A177-3AD203B41FA5}">
                      <a16:colId xmlns:a16="http://schemas.microsoft.com/office/drawing/2014/main" val="3831349061"/>
                    </a:ext>
                  </a:extLst>
                </a:gridCol>
              </a:tblGrid>
              <a:tr h="10935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01867"/>
                  </a:ext>
                </a:extLst>
              </a:tr>
              <a:tr h="4858585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Mapping apps use algorithms to provide accurate route information.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Traffic management systems help optimize traffic flow.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Autonomous vehicles are being developed to enable safer and more efficient transportation.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Internet revolutionized global communication.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Encryption and cybersecurity technologies have allowed for secure e-commerce experiences.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Natural language processing has allowed for global communication to be more accessible.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0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252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552C8-E4B5-B6E3-0421-4BDDCDB08A46}"/>
              </a:ext>
            </a:extLst>
          </p:cNvPr>
          <p:cNvSpPr txBox="1"/>
          <p:nvPr/>
        </p:nvSpPr>
        <p:spPr>
          <a:xfrm>
            <a:off x="240263" y="285022"/>
            <a:ext cx="1151630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Fields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457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552C8-E4B5-B6E3-0421-4BDDCDB08A46}"/>
              </a:ext>
            </a:extLst>
          </p:cNvPr>
          <p:cNvSpPr txBox="1"/>
          <p:nvPr/>
        </p:nvSpPr>
        <p:spPr>
          <a:xfrm>
            <a:off x="240263" y="285022"/>
            <a:ext cx="1151630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Fields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C76B-BEBE-8F48-1073-740A8496A59C}"/>
              </a:ext>
            </a:extLst>
          </p:cNvPr>
          <p:cNvSpPr txBox="1"/>
          <p:nvPr/>
        </p:nvSpPr>
        <p:spPr>
          <a:xfrm>
            <a:off x="240262" y="1173844"/>
            <a:ext cx="11730913" cy="117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not a single field, but is an umbrella subject area that many careers fall under.</a:t>
            </a:r>
          </a:p>
        </p:txBody>
      </p:sp>
    </p:spTree>
    <p:extLst>
      <p:ext uri="{BB962C8B-B14F-4D97-AF65-F5344CB8AC3E}">
        <p14:creationId xmlns:p14="http://schemas.microsoft.com/office/powerpoint/2010/main" val="3421464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552C8-E4B5-B6E3-0421-4BDDCDB08A46}"/>
              </a:ext>
            </a:extLst>
          </p:cNvPr>
          <p:cNvSpPr txBox="1"/>
          <p:nvPr/>
        </p:nvSpPr>
        <p:spPr>
          <a:xfrm>
            <a:off x="240263" y="285022"/>
            <a:ext cx="1151630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Fields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C76B-BEBE-8F48-1073-740A8496A59C}"/>
              </a:ext>
            </a:extLst>
          </p:cNvPr>
          <p:cNvSpPr txBox="1"/>
          <p:nvPr/>
        </p:nvSpPr>
        <p:spPr>
          <a:xfrm>
            <a:off x="240262" y="1173844"/>
            <a:ext cx="11730913" cy="287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not a single field, but is an umbrella subject area that many careers fall under.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are some (not all) examples of possible careers computer science can lead you to: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64090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552C8-E4B5-B6E3-0421-4BDDCDB08A46}"/>
              </a:ext>
            </a:extLst>
          </p:cNvPr>
          <p:cNvSpPr txBox="1"/>
          <p:nvPr/>
        </p:nvSpPr>
        <p:spPr>
          <a:xfrm>
            <a:off x="240263" y="285022"/>
            <a:ext cx="1151630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Fields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C76B-BEBE-8F48-1073-740A8496A59C}"/>
              </a:ext>
            </a:extLst>
          </p:cNvPr>
          <p:cNvSpPr txBox="1"/>
          <p:nvPr/>
        </p:nvSpPr>
        <p:spPr>
          <a:xfrm>
            <a:off x="240262" y="1173844"/>
            <a:ext cx="11730913" cy="4011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not a single field, but is an umbrella subject area that many careers fall under.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are some (not all) examples of possible careers computer science can lead you to: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Engineer: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178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552C8-E4B5-B6E3-0421-4BDDCDB08A46}"/>
              </a:ext>
            </a:extLst>
          </p:cNvPr>
          <p:cNvSpPr txBox="1"/>
          <p:nvPr/>
        </p:nvSpPr>
        <p:spPr>
          <a:xfrm>
            <a:off x="240263" y="285022"/>
            <a:ext cx="1151630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Fields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C76B-BEBE-8F48-1073-740A8496A59C}"/>
              </a:ext>
            </a:extLst>
          </p:cNvPr>
          <p:cNvSpPr txBox="1"/>
          <p:nvPr/>
        </p:nvSpPr>
        <p:spPr>
          <a:xfrm>
            <a:off x="240262" y="1173844"/>
            <a:ext cx="11730913" cy="457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not a single field, but is an umbrella subject area that many careers fall under.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are some (not all) examples of possible careers computer science can lead you to: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Engineer: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engineers design, develop, and maintain software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456772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552C8-E4B5-B6E3-0421-4BDDCDB08A46}"/>
              </a:ext>
            </a:extLst>
          </p:cNvPr>
          <p:cNvSpPr txBox="1"/>
          <p:nvPr/>
        </p:nvSpPr>
        <p:spPr>
          <a:xfrm>
            <a:off x="240263" y="285022"/>
            <a:ext cx="1151630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Fields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C76B-BEBE-8F48-1073-740A8496A59C}"/>
              </a:ext>
            </a:extLst>
          </p:cNvPr>
          <p:cNvSpPr txBox="1"/>
          <p:nvPr/>
        </p:nvSpPr>
        <p:spPr>
          <a:xfrm>
            <a:off x="240262" y="1173844"/>
            <a:ext cx="11730913" cy="5143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is not a single field, but is an umbrella subject area that many careers fall under.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are some (not all) examples of possible careers computer science can lead you to: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Engineer: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engineers design, develop, and maintain software applications.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work on everything from mobile apps to operating systems.</a:t>
            </a:r>
          </a:p>
        </p:txBody>
      </p:sp>
    </p:spTree>
    <p:extLst>
      <p:ext uri="{BB962C8B-B14F-4D97-AF65-F5344CB8AC3E}">
        <p14:creationId xmlns:p14="http://schemas.microsoft.com/office/powerpoint/2010/main" val="3767496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0BF29-5347-39BA-0F66-39548F67111F}"/>
              </a:ext>
            </a:extLst>
          </p:cNvPr>
          <p:cNvSpPr txBox="1"/>
          <p:nvPr/>
        </p:nvSpPr>
        <p:spPr>
          <a:xfrm>
            <a:off x="501521" y="363974"/>
            <a:ext cx="11460324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74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0BF29-5347-39BA-0F66-39548F67111F}"/>
              </a:ext>
            </a:extLst>
          </p:cNvPr>
          <p:cNvSpPr txBox="1"/>
          <p:nvPr/>
        </p:nvSpPr>
        <p:spPr>
          <a:xfrm>
            <a:off x="501521" y="363974"/>
            <a:ext cx="11460324" cy="1539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scientists analyze and interpret large sets of data to extract insights and inform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94684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0BF29-5347-39BA-0F66-39548F67111F}"/>
              </a:ext>
            </a:extLst>
          </p:cNvPr>
          <p:cNvSpPr txBox="1"/>
          <p:nvPr/>
        </p:nvSpPr>
        <p:spPr>
          <a:xfrm>
            <a:off x="501521" y="363974"/>
            <a:ext cx="11460324" cy="302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scientists analyze and interpret large sets of data to extract insights and inform decision-making.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apply statistical analysis, machine learning, and data visualization techniques to solve complex problems.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455856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0BF29-5347-39BA-0F66-39548F67111F}"/>
              </a:ext>
            </a:extLst>
          </p:cNvPr>
          <p:cNvSpPr txBox="1"/>
          <p:nvPr/>
        </p:nvSpPr>
        <p:spPr>
          <a:xfrm>
            <a:off x="501521" y="363974"/>
            <a:ext cx="11460324" cy="3521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scientists analyze and interpret large sets of data to extract insights and inform decision-making.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apply statistical analysis, machine learning, and data visualization techniques to solve complex problems.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(AI) Engineer: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065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0BF29-5347-39BA-0F66-39548F67111F}"/>
              </a:ext>
            </a:extLst>
          </p:cNvPr>
          <p:cNvSpPr txBox="1"/>
          <p:nvPr/>
        </p:nvSpPr>
        <p:spPr>
          <a:xfrm>
            <a:off x="501521" y="363974"/>
            <a:ext cx="11460324" cy="401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scientists analyze and interpret large sets of data to extract insights and inform decision-making.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apply statistical analysis, machine learning, and data visualization techniques to solve complex problems.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(AI) Engineer: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engineers build and deploy intelligent systems and algorithms. </a:t>
            </a:r>
          </a:p>
        </p:txBody>
      </p:sp>
    </p:spTree>
    <p:extLst>
      <p:ext uri="{BB962C8B-B14F-4D97-AF65-F5344CB8AC3E}">
        <p14:creationId xmlns:p14="http://schemas.microsoft.com/office/powerpoint/2010/main" val="1614497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0BF29-5347-39BA-0F66-39548F67111F}"/>
              </a:ext>
            </a:extLst>
          </p:cNvPr>
          <p:cNvSpPr txBox="1"/>
          <p:nvPr/>
        </p:nvSpPr>
        <p:spPr>
          <a:xfrm>
            <a:off x="501521" y="363974"/>
            <a:ext cx="11460324" cy="5503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scientists analyze and interpret large sets of data to extract insights and inform decision-making.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apply statistical analysis, machine learning, and data visualization techniques to solve complex problems.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(AI) Engineer: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engineers build and deploy intelligent systems and algorithms.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work on tasks like natural language processing, computer vision, and machine learning to develop applications such as virtual assistants, recommendation systems, and autonomous vehicles.</a:t>
            </a:r>
          </a:p>
        </p:txBody>
      </p:sp>
    </p:spTree>
    <p:extLst>
      <p:ext uri="{BB962C8B-B14F-4D97-AF65-F5344CB8AC3E}">
        <p14:creationId xmlns:p14="http://schemas.microsoft.com/office/powerpoint/2010/main" val="2166286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433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1332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</p:txBody>
      </p:sp>
    </p:spTree>
    <p:extLst>
      <p:ext uri="{BB962C8B-B14F-4D97-AF65-F5344CB8AC3E}">
        <p14:creationId xmlns:p14="http://schemas.microsoft.com/office/powerpoint/2010/main" val="20741225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218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security protocols, monitor and respond to incidents, and conduct risk assessments to ensure the integrity and confidentiality of data.</a:t>
            </a:r>
          </a:p>
        </p:txBody>
      </p:sp>
    </p:spTree>
    <p:extLst>
      <p:ext uri="{BB962C8B-B14F-4D97-AF65-F5344CB8AC3E}">
        <p14:creationId xmlns:p14="http://schemas.microsoft.com/office/powerpoint/2010/main" val="2917470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30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security protocols, monitor and respond to incidents, and conduct risk assessments to ensure the integrity and confidentiality of data.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1034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3456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security protocols, monitor and respond to incidents, and conduct risk assessments to ensure the integrity and confidentiality of data.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developers design and build websites using HTML, CSS, and JavaScript.</a:t>
            </a:r>
          </a:p>
        </p:txBody>
      </p:sp>
    </p:spTree>
    <p:extLst>
      <p:ext uri="{BB962C8B-B14F-4D97-AF65-F5344CB8AC3E}">
        <p14:creationId xmlns:p14="http://schemas.microsoft.com/office/powerpoint/2010/main" val="40681093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430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security protocols, monitor and respond to incidents, and conduct risk assessments to ensure the integrity and confidentiality of data.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developers design and build websites using HTML, CSS, and JavaScript.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create visually appealing and user-friendly interfaces and may specialize in front-end or back-end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30954168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51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security protocols, monitor and respond to incidents, and conduct risk assessments to ensure the integrity and confidentiality of data.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developers design and build websites using HTML, CSS, and JavaScript.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create visually appealing and user-friendly interfaces and may specialize in front-end or back-end development.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265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557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security protocols, monitor and respond to incidents, and conduct risk assessments to ensure the integrity and confidentiality of data.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developers design and build websites using HTML, CSS, and JavaScript.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create visually appealing and user-friendly interfaces and may specialize in front-end or back-end development.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developers design and create video games. </a:t>
            </a:r>
          </a:p>
        </p:txBody>
      </p:sp>
    </p:spTree>
    <p:extLst>
      <p:ext uri="{BB962C8B-B14F-4D97-AF65-F5344CB8AC3E}">
        <p14:creationId xmlns:p14="http://schemas.microsoft.com/office/powerpoint/2010/main" val="879405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49391-F30E-1D83-4232-C983BCF93B3F}"/>
              </a:ext>
            </a:extLst>
          </p:cNvPr>
          <p:cNvSpPr txBox="1"/>
          <p:nvPr/>
        </p:nvSpPr>
        <p:spPr>
          <a:xfrm>
            <a:off x="410547" y="276729"/>
            <a:ext cx="11579290" cy="642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Cybersecurity analysts protect computer systems and networks from potential threats and vulnerabilities.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security protocols, monitor and respond to incidents, and conduct risk assessments to ensure the integrity and confidentiality of data.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developers design and build websites using HTML, CSS, and JavaScript.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create visually appealing and user-friendly interfaces and may specialize in front-end or back-end development.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Developer: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developers design and create video games.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develop game mechanics, implement graphics and sound, and collaborate with artists and designers to bring interactive experiences to life.</a:t>
            </a:r>
          </a:p>
        </p:txBody>
      </p:sp>
    </p:spTree>
    <p:extLst>
      <p:ext uri="{BB962C8B-B14F-4D97-AF65-F5344CB8AC3E}">
        <p14:creationId xmlns:p14="http://schemas.microsoft.com/office/powerpoint/2010/main" val="26650683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DB9A7-B30F-54F5-F843-569F9C32D83E}"/>
              </a:ext>
            </a:extLst>
          </p:cNvPr>
          <p:cNvSpPr txBox="1"/>
          <p:nvPr/>
        </p:nvSpPr>
        <p:spPr>
          <a:xfrm>
            <a:off x="221602" y="283258"/>
            <a:ext cx="11478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Computer Science Terms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4AE1B-FE92-7AAC-4CBC-994C0FCACC8A}"/>
              </a:ext>
            </a:extLst>
          </p:cNvPr>
          <p:cNvSpPr txBox="1"/>
          <p:nvPr/>
        </p:nvSpPr>
        <p:spPr>
          <a:xfrm>
            <a:off x="221601" y="1273665"/>
            <a:ext cx="89247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have introduced some very important vocab terms with this lesson. Let’s review their definitions: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E6A3D-02C9-F459-1EAD-074116C88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21" y="1710224"/>
            <a:ext cx="2667778" cy="270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376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DB9A7-B30F-54F5-F843-569F9C32D83E}"/>
              </a:ext>
            </a:extLst>
          </p:cNvPr>
          <p:cNvSpPr txBox="1"/>
          <p:nvPr/>
        </p:nvSpPr>
        <p:spPr>
          <a:xfrm>
            <a:off x="221602" y="283258"/>
            <a:ext cx="11478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Computer Science Terms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4AE1B-FE92-7AAC-4CBC-994C0FCACC8A}"/>
              </a:ext>
            </a:extLst>
          </p:cNvPr>
          <p:cNvSpPr txBox="1"/>
          <p:nvPr/>
        </p:nvSpPr>
        <p:spPr>
          <a:xfrm>
            <a:off x="221601" y="1273665"/>
            <a:ext cx="892473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have introduced some very important vocab terms with this lesson. Let’s review their definitions: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Software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collection of programs, data, and instructions that enable a computer system to perform specific tasks or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E6A3D-02C9-F459-1EAD-074116C88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21" y="1710224"/>
            <a:ext cx="2667778" cy="270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104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DB9A7-B30F-54F5-F843-569F9C32D83E}"/>
              </a:ext>
            </a:extLst>
          </p:cNvPr>
          <p:cNvSpPr txBox="1"/>
          <p:nvPr/>
        </p:nvSpPr>
        <p:spPr>
          <a:xfrm>
            <a:off x="221602" y="283258"/>
            <a:ext cx="11478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Computer Science Terms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4AE1B-FE92-7AAC-4CBC-994C0FCACC8A}"/>
              </a:ext>
            </a:extLst>
          </p:cNvPr>
          <p:cNvSpPr txBox="1"/>
          <p:nvPr/>
        </p:nvSpPr>
        <p:spPr>
          <a:xfrm>
            <a:off x="221601" y="1273665"/>
            <a:ext cx="892473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have introduced some very important vocab terms with this lesson. Let’s review their definitions: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Software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collection of programs, data, and instructions that enable a computer system to perform specific tasks or functions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Hardware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physical components of a computer system that can be touched and manipulated.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E6A3D-02C9-F459-1EAD-074116C88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21" y="1710224"/>
            <a:ext cx="2667778" cy="270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24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DB9A7-B30F-54F5-F843-569F9C32D83E}"/>
              </a:ext>
            </a:extLst>
          </p:cNvPr>
          <p:cNvSpPr txBox="1"/>
          <p:nvPr/>
        </p:nvSpPr>
        <p:spPr>
          <a:xfrm>
            <a:off x="221602" y="283258"/>
            <a:ext cx="11478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Computer Science Terms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4AE1B-FE92-7AAC-4CBC-994C0FCACC8A}"/>
              </a:ext>
            </a:extLst>
          </p:cNvPr>
          <p:cNvSpPr txBox="1"/>
          <p:nvPr/>
        </p:nvSpPr>
        <p:spPr>
          <a:xfrm>
            <a:off x="221601" y="1273665"/>
            <a:ext cx="8924730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System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combination of hardware, software, and data that work together to perform computational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E6A3D-02C9-F459-1EAD-074116C88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21" y="1710224"/>
            <a:ext cx="2667778" cy="270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335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DB9A7-B30F-54F5-F843-569F9C32D83E}"/>
              </a:ext>
            </a:extLst>
          </p:cNvPr>
          <p:cNvSpPr txBox="1"/>
          <p:nvPr/>
        </p:nvSpPr>
        <p:spPr>
          <a:xfrm>
            <a:off x="221602" y="283258"/>
            <a:ext cx="11478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Computer Science Terms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4AE1B-FE92-7AAC-4CBC-994C0FCACC8A}"/>
              </a:ext>
            </a:extLst>
          </p:cNvPr>
          <p:cNvSpPr txBox="1"/>
          <p:nvPr/>
        </p:nvSpPr>
        <p:spPr>
          <a:xfrm>
            <a:off x="221601" y="1273665"/>
            <a:ext cx="892473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System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combination of hardware, software, and data that work together to perform computational tasks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Device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any device capable of performing computations or processing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E6A3D-02C9-F459-1EAD-074116C88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21" y="1710224"/>
            <a:ext cx="2667778" cy="270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32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DB9A7-B30F-54F5-F843-569F9C32D83E}"/>
              </a:ext>
            </a:extLst>
          </p:cNvPr>
          <p:cNvSpPr txBox="1"/>
          <p:nvPr/>
        </p:nvSpPr>
        <p:spPr>
          <a:xfrm>
            <a:off x="221602" y="283258"/>
            <a:ext cx="11478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Computer Science Terms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4AE1B-FE92-7AAC-4CBC-994C0FCACC8A}"/>
              </a:ext>
            </a:extLst>
          </p:cNvPr>
          <p:cNvSpPr txBox="1"/>
          <p:nvPr/>
        </p:nvSpPr>
        <p:spPr>
          <a:xfrm>
            <a:off x="221601" y="1273665"/>
            <a:ext cx="892473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System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combination of hardware, software, and data that work together to perform computational tasks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Device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any device capable of performing computations or processing information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way of training computer models on large datasets so they can recognize patterns, make inferences, and improve with experience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E6A3D-02C9-F459-1EAD-074116C88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21" y="1710224"/>
            <a:ext cx="2667778" cy="270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3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2231</Words>
  <Application>Microsoft Office PowerPoint</Application>
  <PresentationFormat>Widescreen</PresentationFormat>
  <Paragraphs>251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Calibri Light</vt:lpstr>
      <vt:lpstr>Cooper Black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kayla heller</dc:creator>
  <cp:lastModifiedBy>kayla heller</cp:lastModifiedBy>
  <cp:revision>35</cp:revision>
  <dcterms:created xsi:type="dcterms:W3CDTF">2023-03-10T20:29:27Z</dcterms:created>
  <dcterms:modified xsi:type="dcterms:W3CDTF">2023-07-19T01:14:17Z</dcterms:modified>
</cp:coreProperties>
</file>